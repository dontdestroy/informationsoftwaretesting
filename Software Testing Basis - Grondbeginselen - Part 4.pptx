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65" r:id="rId5"/>
    <p:sldId id="266" r:id="rId6"/>
    <p:sldId id="267" r:id="rId7"/>
    <p:sldId id="816" r:id="rId8"/>
    <p:sldId id="829" r:id="rId9"/>
    <p:sldId id="831" r:id="rId10"/>
    <p:sldId id="817" r:id="rId11"/>
    <p:sldId id="837" r:id="rId12"/>
    <p:sldId id="832" r:id="rId13"/>
    <p:sldId id="828" r:id="rId14"/>
    <p:sldId id="820" r:id="rId15"/>
    <p:sldId id="821" r:id="rId16"/>
    <p:sldId id="822" r:id="rId17"/>
    <p:sldId id="818" r:id="rId18"/>
    <p:sldId id="830" r:id="rId19"/>
    <p:sldId id="823" r:id="rId20"/>
    <p:sldId id="824" r:id="rId21"/>
    <p:sldId id="827" r:id="rId22"/>
    <p:sldId id="826" r:id="rId23"/>
    <p:sldId id="833" r:id="rId24"/>
    <p:sldId id="834" r:id="rId25"/>
    <p:sldId id="835" r:id="rId26"/>
    <p:sldId id="838" r:id="rId27"/>
    <p:sldId id="836" r:id="rId28"/>
    <p:sldId id="839" r:id="rId29"/>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6517" autoAdjust="0"/>
  </p:normalViewPr>
  <p:slideViewPr>
    <p:cSldViewPr>
      <p:cViewPr varScale="1">
        <p:scale>
          <a:sx n="84" d="100"/>
          <a:sy n="84" d="100"/>
        </p:scale>
        <p:origin x="926" y="3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25/11/2021</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2</a:t>
            </a:fld>
            <a:endParaRPr lang="nl-BE"/>
          </a:p>
        </p:txBody>
      </p:sp>
    </p:spTree>
    <p:extLst>
      <p:ext uri="{BB962C8B-B14F-4D97-AF65-F5344CB8AC3E}">
        <p14:creationId xmlns:p14="http://schemas.microsoft.com/office/powerpoint/2010/main" val="473566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a:t>
            </a:fld>
            <a:endParaRPr lang="nl-BE"/>
          </a:p>
        </p:txBody>
      </p:sp>
    </p:spTree>
    <p:extLst>
      <p:ext uri="{BB962C8B-B14F-4D97-AF65-F5344CB8AC3E}">
        <p14:creationId xmlns:p14="http://schemas.microsoft.com/office/powerpoint/2010/main" val="3021033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5</a:t>
            </a:fld>
            <a:endParaRPr lang="nl-BE"/>
          </a:p>
        </p:txBody>
      </p:sp>
    </p:spTree>
    <p:extLst>
      <p:ext uri="{BB962C8B-B14F-4D97-AF65-F5344CB8AC3E}">
        <p14:creationId xmlns:p14="http://schemas.microsoft.com/office/powerpoint/2010/main" val="3242992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6</a:t>
            </a:fld>
            <a:endParaRPr lang="nl-BE"/>
          </a:p>
        </p:txBody>
      </p:sp>
    </p:spTree>
    <p:extLst>
      <p:ext uri="{BB962C8B-B14F-4D97-AF65-F5344CB8AC3E}">
        <p14:creationId xmlns:p14="http://schemas.microsoft.com/office/powerpoint/2010/main" val="211580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7</a:t>
            </a:fld>
            <a:endParaRPr lang="nl-BE"/>
          </a:p>
        </p:txBody>
      </p:sp>
    </p:spTree>
    <p:extLst>
      <p:ext uri="{BB962C8B-B14F-4D97-AF65-F5344CB8AC3E}">
        <p14:creationId xmlns:p14="http://schemas.microsoft.com/office/powerpoint/2010/main" val="1877644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8</a:t>
            </a:fld>
            <a:endParaRPr lang="nl-BE"/>
          </a:p>
        </p:txBody>
      </p:sp>
    </p:spTree>
    <p:extLst>
      <p:ext uri="{BB962C8B-B14F-4D97-AF65-F5344CB8AC3E}">
        <p14:creationId xmlns:p14="http://schemas.microsoft.com/office/powerpoint/2010/main" val="833663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9</a:t>
            </a:fld>
            <a:endParaRPr lang="nl-BE"/>
          </a:p>
        </p:txBody>
      </p:sp>
    </p:spTree>
    <p:extLst>
      <p:ext uri="{BB962C8B-B14F-4D97-AF65-F5344CB8AC3E}">
        <p14:creationId xmlns:p14="http://schemas.microsoft.com/office/powerpoint/2010/main" val="2786236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10</a:t>
            </a:fld>
            <a:endParaRPr lang="nl-BE"/>
          </a:p>
        </p:txBody>
      </p:sp>
    </p:spTree>
    <p:extLst>
      <p:ext uri="{BB962C8B-B14F-4D97-AF65-F5344CB8AC3E}">
        <p14:creationId xmlns:p14="http://schemas.microsoft.com/office/powerpoint/2010/main" val="314512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11</a:t>
            </a:fld>
            <a:endParaRPr lang="nl-BE"/>
          </a:p>
        </p:txBody>
      </p:sp>
    </p:spTree>
    <p:extLst>
      <p:ext uri="{BB962C8B-B14F-4D97-AF65-F5344CB8AC3E}">
        <p14:creationId xmlns:p14="http://schemas.microsoft.com/office/powerpoint/2010/main" val="557115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12</a:t>
            </a:fld>
            <a:endParaRPr lang="nl-BE"/>
          </a:p>
        </p:txBody>
      </p:sp>
    </p:spTree>
    <p:extLst>
      <p:ext uri="{BB962C8B-B14F-4D97-AF65-F5344CB8AC3E}">
        <p14:creationId xmlns:p14="http://schemas.microsoft.com/office/powerpoint/2010/main" val="948458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13</a:t>
            </a:fld>
            <a:endParaRPr lang="nl-BE"/>
          </a:p>
        </p:txBody>
      </p:sp>
    </p:spTree>
    <p:extLst>
      <p:ext uri="{BB962C8B-B14F-4D97-AF65-F5344CB8AC3E}">
        <p14:creationId xmlns:p14="http://schemas.microsoft.com/office/powerpoint/2010/main" val="4095946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14</a:t>
            </a:fld>
            <a:endParaRPr lang="nl-BE"/>
          </a:p>
        </p:txBody>
      </p:sp>
    </p:spTree>
    <p:extLst>
      <p:ext uri="{BB962C8B-B14F-4D97-AF65-F5344CB8AC3E}">
        <p14:creationId xmlns:p14="http://schemas.microsoft.com/office/powerpoint/2010/main" val="959775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15</a:t>
            </a:fld>
            <a:endParaRPr lang="nl-BE"/>
          </a:p>
        </p:txBody>
      </p:sp>
    </p:spTree>
    <p:extLst>
      <p:ext uri="{BB962C8B-B14F-4D97-AF65-F5344CB8AC3E}">
        <p14:creationId xmlns:p14="http://schemas.microsoft.com/office/powerpoint/2010/main" val="826137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16</a:t>
            </a:fld>
            <a:endParaRPr lang="nl-BE"/>
          </a:p>
        </p:txBody>
      </p:sp>
    </p:spTree>
    <p:extLst>
      <p:ext uri="{BB962C8B-B14F-4D97-AF65-F5344CB8AC3E}">
        <p14:creationId xmlns:p14="http://schemas.microsoft.com/office/powerpoint/2010/main" val="39025545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17</a:t>
            </a:fld>
            <a:endParaRPr lang="nl-BE"/>
          </a:p>
        </p:txBody>
      </p:sp>
    </p:spTree>
    <p:extLst>
      <p:ext uri="{BB962C8B-B14F-4D97-AF65-F5344CB8AC3E}">
        <p14:creationId xmlns:p14="http://schemas.microsoft.com/office/powerpoint/2010/main" val="15159311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18</a:t>
            </a:fld>
            <a:endParaRPr lang="nl-BE"/>
          </a:p>
        </p:txBody>
      </p:sp>
    </p:spTree>
    <p:extLst>
      <p:ext uri="{BB962C8B-B14F-4D97-AF65-F5344CB8AC3E}">
        <p14:creationId xmlns:p14="http://schemas.microsoft.com/office/powerpoint/2010/main" val="1852359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19</a:t>
            </a:fld>
            <a:endParaRPr lang="nl-BE"/>
          </a:p>
        </p:txBody>
      </p:sp>
    </p:spTree>
    <p:extLst>
      <p:ext uri="{BB962C8B-B14F-4D97-AF65-F5344CB8AC3E}">
        <p14:creationId xmlns:p14="http://schemas.microsoft.com/office/powerpoint/2010/main" val="38967686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20</a:t>
            </a:fld>
            <a:endParaRPr lang="nl-BE"/>
          </a:p>
        </p:txBody>
      </p:sp>
    </p:spTree>
    <p:extLst>
      <p:ext uri="{BB962C8B-B14F-4D97-AF65-F5344CB8AC3E}">
        <p14:creationId xmlns:p14="http://schemas.microsoft.com/office/powerpoint/2010/main" val="536070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21</a:t>
            </a:fld>
            <a:endParaRPr lang="nl-BE"/>
          </a:p>
        </p:txBody>
      </p:sp>
    </p:spTree>
    <p:extLst>
      <p:ext uri="{BB962C8B-B14F-4D97-AF65-F5344CB8AC3E}">
        <p14:creationId xmlns:p14="http://schemas.microsoft.com/office/powerpoint/2010/main" val="28741416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22</a:t>
            </a:fld>
            <a:endParaRPr lang="nl-BE"/>
          </a:p>
        </p:txBody>
      </p:sp>
    </p:spTree>
    <p:extLst>
      <p:ext uri="{BB962C8B-B14F-4D97-AF65-F5344CB8AC3E}">
        <p14:creationId xmlns:p14="http://schemas.microsoft.com/office/powerpoint/2010/main" val="3116863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23</a:t>
            </a:fld>
            <a:endParaRPr lang="nl-BE"/>
          </a:p>
        </p:txBody>
      </p:sp>
    </p:spTree>
    <p:extLst>
      <p:ext uri="{BB962C8B-B14F-4D97-AF65-F5344CB8AC3E}">
        <p14:creationId xmlns:p14="http://schemas.microsoft.com/office/powerpoint/2010/main" val="2039525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24</a:t>
            </a:fld>
            <a:endParaRPr lang="nl-BE"/>
          </a:p>
        </p:txBody>
      </p:sp>
    </p:spTree>
    <p:extLst>
      <p:ext uri="{BB962C8B-B14F-4D97-AF65-F5344CB8AC3E}">
        <p14:creationId xmlns:p14="http://schemas.microsoft.com/office/powerpoint/2010/main" val="20517903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25</a:t>
            </a:fld>
            <a:endParaRPr lang="nl-BE"/>
          </a:p>
        </p:txBody>
      </p:sp>
    </p:spTree>
    <p:extLst>
      <p:ext uri="{BB962C8B-B14F-4D97-AF65-F5344CB8AC3E}">
        <p14:creationId xmlns:p14="http://schemas.microsoft.com/office/powerpoint/2010/main" val="3738134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 Een verwijzing naar de bron en auteur wordt gewaardeerd.</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algn="l" defTabSz="914400"/>
            <a:r>
              <a:rPr lang="nl-NL" sz="1800">
                <a:solidFill>
                  <a:srgbClr val="034EA2"/>
                </a:solidFill>
              </a:rPr>
              <a:t>Hoofdtitel: Software Testen</a:t>
            </a:r>
            <a:br>
              <a:rPr lang="nl-NL" sz="1800">
                <a:solidFill>
                  <a:srgbClr val="034EA2"/>
                </a:solidFill>
              </a:rPr>
            </a:br>
            <a:r>
              <a:rPr lang="nl-NL" sz="1800">
                <a:solidFill>
                  <a:srgbClr val="034EA2"/>
                </a:solidFill>
              </a:rPr>
              <a:t>Subtitel: Grondbeginselen / Basis principes</a:t>
            </a:r>
            <a:br>
              <a:rPr lang="nl-NL" sz="1800">
                <a:solidFill>
                  <a:srgbClr val="034EA2"/>
                </a:solidFill>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err="1"/>
              <a:t>Grondbeginselen</a:t>
            </a:r>
            <a:r>
              <a:rPr lang="en-GB"/>
              <a:t> / Test Types</a:t>
            </a:r>
          </a:p>
          <a:p>
            <a:r>
              <a:rPr lang="en-GB"/>
              <a:t>6 </a:t>
            </a:r>
            <a:r>
              <a:rPr lang="en-GB" err="1"/>
              <a:t>werkuur</a:t>
            </a:r>
            <a:endParaRPr lang="en-US"/>
          </a:p>
        </p:txBody>
      </p:sp>
      <p:sp>
        <p:nvSpPr>
          <p:cNvPr id="3" name="Text Placeholder 2"/>
          <p:cNvSpPr>
            <a:spLocks noGrp="1"/>
          </p:cNvSpPr>
          <p:nvPr>
            <p:ph type="body" sz="quarter" idx="11"/>
          </p:nvPr>
        </p:nvSpPr>
        <p:spPr/>
        <p:txBody>
          <a:bodyPr/>
          <a:lstStyle/>
          <a:p>
            <a:r>
              <a:rPr lang="en-GB"/>
              <a:t>Software </a:t>
            </a:r>
            <a:r>
              <a:rPr lang="en-GB" err="1"/>
              <a:t>Testen</a:t>
            </a:r>
            <a:endParaRPr lang="en-US"/>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E7DB9-751C-48EC-983D-52B958C4760E}"/>
              </a:ext>
            </a:extLst>
          </p:cNvPr>
          <p:cNvSpPr>
            <a:spLocks noGrp="1"/>
          </p:cNvSpPr>
          <p:nvPr>
            <p:ph type="sldNum" sz="quarter" idx="7"/>
          </p:nvPr>
        </p:nvSpPr>
        <p:spPr/>
        <p:txBody>
          <a:bodyPr/>
          <a:lstStyle/>
          <a:p>
            <a:fld id="{B6F15528-21DE-4FAA-801E-634DDDAF4B2B}" type="slidenum">
              <a:rPr lang="en-US" smtClean="0"/>
              <a:t>2</a:t>
            </a:fld>
            <a:endParaRPr lang="en-US"/>
          </a:p>
        </p:txBody>
      </p:sp>
    </p:spTree>
    <p:extLst>
      <p:ext uri="{BB962C8B-B14F-4D97-AF65-F5344CB8AC3E}">
        <p14:creationId xmlns:p14="http://schemas.microsoft.com/office/powerpoint/2010/main" val="173719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err="1"/>
              <a:t>Functionele</a:t>
            </a:r>
            <a:r>
              <a:rPr lang="en-GB"/>
              <a:t> </a:t>
            </a:r>
            <a:r>
              <a:rPr lang="en-GB" err="1"/>
              <a:t>testen</a:t>
            </a:r>
            <a:r>
              <a:rPr lang="en-GB"/>
              <a:t> (Functional)</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Testen die beschrijven wat het te testen onderwerp doet.</a:t>
            </a:r>
          </a:p>
          <a:p>
            <a:r>
              <a:rPr lang="en-GB"/>
              <a:t>Doel</a:t>
            </a:r>
          </a:p>
          <a:p>
            <a:pPr lvl="1"/>
            <a:r>
              <a:rPr lang="en-GB"/>
              <a:t>Kijken of een functionaliteit werkt.</a:t>
            </a:r>
          </a:p>
          <a:p>
            <a:r>
              <a:rPr lang="en-GB"/>
              <a:t>Wanneer</a:t>
            </a:r>
          </a:p>
          <a:p>
            <a:pPr lvl="1"/>
            <a:r>
              <a:rPr lang="en-GB"/>
              <a:t>Het ganse ontwikkel proces door.</a:t>
            </a:r>
          </a:p>
          <a:p>
            <a:r>
              <a:rPr lang="en-GB"/>
              <a:t>Wie</a:t>
            </a:r>
          </a:p>
          <a:p>
            <a:pPr lvl="1"/>
            <a:r>
              <a:rPr lang="en-GB"/>
              <a:t>Developers / Testers / Analysten / Business.</a:t>
            </a:r>
          </a:p>
          <a:p>
            <a:r>
              <a:rPr lang="en-GB" err="1"/>
              <a:t>Niveau</a:t>
            </a:r>
            <a:endParaRPr lang="en-GB"/>
          </a:p>
          <a:p>
            <a:pPr lvl="1"/>
            <a:r>
              <a:rPr lang="en-GB"/>
              <a:t>Integratie / Systeem / Acceptatie.</a:t>
            </a:r>
          </a:p>
          <a:p>
            <a:r>
              <a:rPr lang="en-GB"/>
              <a:t>Methode</a:t>
            </a:r>
          </a:p>
          <a:p>
            <a:pPr lvl="1"/>
            <a:r>
              <a:rPr lang="en-GB"/>
              <a:t>Hoofdzakelijk Black box.</a:t>
            </a:r>
          </a:p>
        </p:txBody>
      </p:sp>
    </p:spTree>
    <p:extLst>
      <p:ext uri="{BB962C8B-B14F-4D97-AF65-F5344CB8AC3E}">
        <p14:creationId xmlns:p14="http://schemas.microsoft.com/office/powerpoint/2010/main" val="6328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err="1"/>
              <a:t>Functionele</a:t>
            </a:r>
            <a:r>
              <a:rPr lang="en-GB"/>
              <a:t> IT Black Box testen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5</a:t>
            </a:fld>
            <a:endParaRPr lang="en-US"/>
          </a:p>
        </p:txBody>
      </p:sp>
      <p:pic>
        <p:nvPicPr>
          <p:cNvPr id="8" name="Picture 7" descr="Diagram&#10;&#10;Description automatically generated">
            <a:extLst>
              <a:ext uri="{FF2B5EF4-FFF2-40B4-BE49-F238E27FC236}">
                <a16:creationId xmlns:a16="http://schemas.microsoft.com/office/drawing/2014/main" id="{25447C57-C060-4239-9772-AF399FF0B6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520" y="1254698"/>
            <a:ext cx="8392368" cy="5445628"/>
          </a:xfrm>
          <a:prstGeom prst="rect">
            <a:avLst/>
          </a:prstGeom>
        </p:spPr>
      </p:pic>
    </p:spTree>
    <p:extLst>
      <p:ext uri="{BB962C8B-B14F-4D97-AF65-F5344CB8AC3E}">
        <p14:creationId xmlns:p14="http://schemas.microsoft.com/office/powerpoint/2010/main" val="2631536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err="1"/>
              <a:t>Functionele</a:t>
            </a:r>
            <a:r>
              <a:rPr lang="en-GB"/>
              <a:t> IT White Box testen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6</a:t>
            </a:fld>
            <a:endParaRPr lang="en-US"/>
          </a:p>
        </p:txBody>
      </p:sp>
      <p:pic>
        <p:nvPicPr>
          <p:cNvPr id="5" name="Picture 4" descr="Diagram&#10;&#10;Description automatically generated">
            <a:extLst>
              <a:ext uri="{FF2B5EF4-FFF2-40B4-BE49-F238E27FC236}">
                <a16:creationId xmlns:a16="http://schemas.microsoft.com/office/drawing/2014/main" id="{2B7901BD-673D-4AA3-81C2-2519BB79F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3576" y="1145704"/>
            <a:ext cx="7838495" cy="5589188"/>
          </a:xfrm>
          <a:prstGeom prst="rect">
            <a:avLst/>
          </a:prstGeom>
        </p:spPr>
      </p:pic>
    </p:spTree>
    <p:extLst>
      <p:ext uri="{BB962C8B-B14F-4D97-AF65-F5344CB8AC3E}">
        <p14:creationId xmlns:p14="http://schemas.microsoft.com/office/powerpoint/2010/main" val="1564342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err="1"/>
              <a:t>Niet</a:t>
            </a:r>
            <a:r>
              <a:rPr lang="en-GB"/>
              <a:t> </a:t>
            </a:r>
            <a:r>
              <a:rPr lang="en-GB" err="1"/>
              <a:t>Functionele</a:t>
            </a:r>
            <a:r>
              <a:rPr lang="en-GB"/>
              <a:t> </a:t>
            </a:r>
            <a:r>
              <a:rPr lang="en-GB" err="1"/>
              <a:t>testen</a:t>
            </a:r>
            <a:r>
              <a:rPr lang="en-GB"/>
              <a:t> (Non-Functional)</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7</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We weten dat het systeem functioneel werkt, maar hoe werkt het systeem onder speciale situaties.</a:t>
            </a:r>
          </a:p>
          <a:p>
            <a:r>
              <a:rPr lang="en-GB"/>
              <a:t>Doel</a:t>
            </a:r>
          </a:p>
          <a:p>
            <a:pPr lvl="1"/>
            <a:r>
              <a:rPr lang="en-GB"/>
              <a:t>Het testen van de niet functionele requirements.</a:t>
            </a:r>
          </a:p>
          <a:p>
            <a:r>
              <a:rPr lang="en-GB" err="1"/>
              <a:t>Wanneer</a:t>
            </a:r>
            <a:endParaRPr lang="en-GB"/>
          </a:p>
          <a:p>
            <a:pPr lvl="1"/>
            <a:r>
              <a:rPr lang="en-GB"/>
              <a:t>Wanneer het product bijna productie klaar is.</a:t>
            </a:r>
          </a:p>
          <a:p>
            <a:r>
              <a:rPr lang="en-GB"/>
              <a:t>Wie</a:t>
            </a:r>
          </a:p>
          <a:p>
            <a:pPr lvl="1"/>
            <a:r>
              <a:rPr lang="en-GB"/>
              <a:t>Systeem architecten.</a:t>
            </a:r>
          </a:p>
          <a:p>
            <a:r>
              <a:rPr lang="en-GB" err="1"/>
              <a:t>Niveau</a:t>
            </a:r>
            <a:endParaRPr lang="en-GB"/>
          </a:p>
          <a:p>
            <a:pPr lvl="1"/>
            <a:r>
              <a:rPr lang="en-GB"/>
              <a:t>Systeem / Acceptatie.</a:t>
            </a:r>
          </a:p>
          <a:p>
            <a:r>
              <a:rPr lang="en-GB"/>
              <a:t>Methode</a:t>
            </a:r>
          </a:p>
          <a:p>
            <a:pPr lvl="1"/>
            <a:r>
              <a:rPr lang="en-GB"/>
              <a:t>Black box, uitgeschreven test scenario’s.</a:t>
            </a:r>
          </a:p>
        </p:txBody>
      </p:sp>
    </p:spTree>
    <p:extLst>
      <p:ext uri="{BB962C8B-B14F-4D97-AF65-F5344CB8AC3E}">
        <p14:creationId xmlns:p14="http://schemas.microsoft.com/office/powerpoint/2010/main" val="2229197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Functionele testen </a:t>
            </a:r>
            <a:r>
              <a:rPr lang="en-GB">
                <a:sym typeface="Wingdings" panose="05000000000000000000" pitchFamily="2" charset="2"/>
              </a:rPr>
              <a:t> </a:t>
            </a:r>
            <a:r>
              <a:rPr lang="en-GB"/>
              <a:t>Niet </a:t>
            </a:r>
            <a:r>
              <a:rPr lang="en-GB" err="1"/>
              <a:t>Functionele</a:t>
            </a:r>
            <a:r>
              <a:rPr lang="en-GB"/>
              <a:t> testen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8</a:t>
            </a:fld>
            <a:endParaRPr lang="en-US"/>
          </a:p>
        </p:txBody>
      </p:sp>
      <p:sp>
        <p:nvSpPr>
          <p:cNvPr id="6" name="Text Placeholder 5">
            <a:extLst>
              <a:ext uri="{FF2B5EF4-FFF2-40B4-BE49-F238E27FC236}">
                <a16:creationId xmlns:a16="http://schemas.microsoft.com/office/drawing/2014/main" id="{C1858411-FDA6-4228-A6CA-29F8EDF1C140}"/>
              </a:ext>
            </a:extLst>
          </p:cNvPr>
          <p:cNvSpPr>
            <a:spLocks noGrp="1"/>
          </p:cNvSpPr>
          <p:nvPr>
            <p:ph type="body" sz="quarter" idx="10"/>
          </p:nvPr>
        </p:nvSpPr>
        <p:spPr/>
        <p:txBody>
          <a:bodyPr/>
          <a:lstStyle/>
          <a:p>
            <a:endParaRPr lang="nl-BE"/>
          </a:p>
        </p:txBody>
      </p:sp>
      <p:pic>
        <p:nvPicPr>
          <p:cNvPr id="8" name="Picture 7" descr="Diagram&#10;&#10;Description automatically generated">
            <a:extLst>
              <a:ext uri="{FF2B5EF4-FFF2-40B4-BE49-F238E27FC236}">
                <a16:creationId xmlns:a16="http://schemas.microsoft.com/office/drawing/2014/main" id="{659E3CF1-34C8-4E20-8395-126697AC3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3548" y="1433513"/>
            <a:ext cx="5572903" cy="4953691"/>
          </a:xfrm>
          <a:prstGeom prst="rect">
            <a:avLst/>
          </a:prstGeom>
        </p:spPr>
      </p:pic>
    </p:spTree>
    <p:extLst>
      <p:ext uri="{BB962C8B-B14F-4D97-AF65-F5344CB8AC3E}">
        <p14:creationId xmlns:p14="http://schemas.microsoft.com/office/powerpoint/2010/main" val="2844852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Operationele testen (Functioneel en niet functioneel)</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9</a:t>
            </a:fld>
            <a:endParaRPr lang="en-US"/>
          </a:p>
        </p:txBody>
      </p:sp>
      <p:pic>
        <p:nvPicPr>
          <p:cNvPr id="8" name="Picture 7" descr="Diagram&#10;&#10;Description automatically generated">
            <a:extLst>
              <a:ext uri="{FF2B5EF4-FFF2-40B4-BE49-F238E27FC236}">
                <a16:creationId xmlns:a16="http://schemas.microsoft.com/office/drawing/2014/main" id="{E2183439-8F23-4570-AB7B-FB23727205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768" y="1254698"/>
            <a:ext cx="5925661" cy="5541048"/>
          </a:xfrm>
          <a:prstGeom prst="rect">
            <a:avLst/>
          </a:prstGeom>
        </p:spPr>
      </p:pic>
    </p:spTree>
    <p:extLst>
      <p:ext uri="{BB962C8B-B14F-4D97-AF65-F5344CB8AC3E}">
        <p14:creationId xmlns:p14="http://schemas.microsoft.com/office/powerpoint/2010/main" val="2094904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Smoke </a:t>
            </a:r>
            <a:r>
              <a:rPr lang="en-GB" err="1"/>
              <a:t>testen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10</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Snelle test om de betrouwbaarheid na release te controleren.</a:t>
            </a:r>
          </a:p>
          <a:p>
            <a:r>
              <a:rPr lang="en-GB"/>
              <a:t>Doel</a:t>
            </a:r>
          </a:p>
          <a:p>
            <a:pPr lvl="1"/>
            <a:r>
              <a:rPr lang="en-GB"/>
              <a:t>Kijken of de basis functionaliteit nog werkt om te kijken of een nieuwe release goed was.</a:t>
            </a:r>
          </a:p>
          <a:p>
            <a:r>
              <a:rPr lang="en-GB" err="1"/>
              <a:t>Wanneer</a:t>
            </a:r>
            <a:endParaRPr lang="en-GB"/>
          </a:p>
          <a:p>
            <a:pPr lvl="1"/>
            <a:r>
              <a:rPr lang="en-GB"/>
              <a:t>Na installatie.</a:t>
            </a:r>
          </a:p>
          <a:p>
            <a:r>
              <a:rPr lang="en-GB"/>
              <a:t>Wie</a:t>
            </a:r>
          </a:p>
          <a:p>
            <a:pPr lvl="1"/>
            <a:r>
              <a:rPr lang="en-GB"/>
              <a:t>Tester en business.</a:t>
            </a:r>
          </a:p>
          <a:p>
            <a:r>
              <a:rPr lang="en-GB" err="1"/>
              <a:t>Niveau</a:t>
            </a:r>
            <a:endParaRPr lang="en-GB"/>
          </a:p>
          <a:p>
            <a:pPr lvl="1"/>
            <a:r>
              <a:rPr lang="en-GB"/>
              <a:t>Systeem / Acceptatie.</a:t>
            </a:r>
          </a:p>
          <a:p>
            <a:r>
              <a:rPr lang="en-GB"/>
              <a:t>Methode</a:t>
            </a:r>
          </a:p>
          <a:p>
            <a:pPr lvl="1"/>
            <a:r>
              <a:rPr lang="en-GB"/>
              <a:t>Black box.</a:t>
            </a:r>
          </a:p>
        </p:txBody>
      </p:sp>
    </p:spTree>
    <p:extLst>
      <p:ext uri="{BB962C8B-B14F-4D97-AF65-F5344CB8AC3E}">
        <p14:creationId xmlns:p14="http://schemas.microsoft.com/office/powerpoint/2010/main" val="3752157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Gebruikers gemak test (Usability)</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11</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Testen waar de gebruiker en het gebruikers gemak centraal staat.</a:t>
            </a:r>
          </a:p>
          <a:p>
            <a:r>
              <a:rPr lang="en-GB"/>
              <a:t>Doel</a:t>
            </a:r>
          </a:p>
          <a:p>
            <a:pPr lvl="1"/>
            <a:r>
              <a:rPr lang="en-GB"/>
              <a:t>Testen of de software eenvoudig in gebruik is.</a:t>
            </a:r>
          </a:p>
          <a:p>
            <a:r>
              <a:rPr lang="en-GB"/>
              <a:t>Wanneer</a:t>
            </a:r>
          </a:p>
          <a:p>
            <a:pPr lvl="1"/>
            <a:r>
              <a:rPr lang="en-GB"/>
              <a:t>Het ganse ontwikkelproces door.</a:t>
            </a:r>
          </a:p>
          <a:p>
            <a:r>
              <a:rPr lang="en-GB"/>
              <a:t>Wie</a:t>
            </a:r>
          </a:p>
          <a:p>
            <a:pPr lvl="1"/>
            <a:r>
              <a:rPr lang="en-GB"/>
              <a:t>Testers en Business.</a:t>
            </a:r>
          </a:p>
          <a:p>
            <a:r>
              <a:rPr lang="en-GB" err="1"/>
              <a:t>Niveau</a:t>
            </a:r>
            <a:endParaRPr lang="en-GB"/>
          </a:p>
          <a:p>
            <a:pPr lvl="1"/>
            <a:r>
              <a:rPr lang="en-GB"/>
              <a:t>Systeem / Acceptatie.</a:t>
            </a:r>
          </a:p>
          <a:p>
            <a:r>
              <a:rPr lang="en-GB"/>
              <a:t>Methode</a:t>
            </a:r>
          </a:p>
          <a:p>
            <a:pPr lvl="1"/>
            <a:r>
              <a:rPr lang="en-GB"/>
              <a:t>Black box.</a:t>
            </a:r>
          </a:p>
        </p:txBody>
      </p:sp>
    </p:spTree>
    <p:extLst>
      <p:ext uri="{BB962C8B-B14F-4D97-AF65-F5344CB8AC3E}">
        <p14:creationId xmlns:p14="http://schemas.microsoft.com/office/powerpoint/2010/main" val="214493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err="1"/>
              <a:t>Beveiligingstest</a:t>
            </a:r>
            <a:r>
              <a:rPr lang="en-GB"/>
              <a:t> (Security)</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12</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Testen of de toegankelijkheid van het systeem werkt (of net niet).</a:t>
            </a:r>
          </a:p>
          <a:p>
            <a:r>
              <a:rPr lang="en-GB"/>
              <a:t>Doel</a:t>
            </a:r>
          </a:p>
          <a:p>
            <a:pPr lvl="1"/>
            <a:r>
              <a:rPr lang="en-GB"/>
              <a:t>Het beveiligen en afschermen van gevoelige data.</a:t>
            </a:r>
          </a:p>
          <a:p>
            <a:r>
              <a:rPr lang="en-GB" err="1"/>
              <a:t>Wanneer</a:t>
            </a:r>
            <a:endParaRPr lang="en-GB"/>
          </a:p>
          <a:p>
            <a:pPr lvl="1"/>
            <a:r>
              <a:rPr lang="en-GB"/>
              <a:t>Net voordat het echt nodig is.</a:t>
            </a:r>
          </a:p>
          <a:p>
            <a:r>
              <a:rPr lang="en-GB"/>
              <a:t>Wie</a:t>
            </a:r>
          </a:p>
          <a:p>
            <a:pPr lvl="1"/>
            <a:r>
              <a:rPr lang="en-GB"/>
              <a:t>Testers, Ethical hacker en gespecialiseerde teams.</a:t>
            </a:r>
          </a:p>
          <a:p>
            <a:r>
              <a:rPr lang="en-GB" err="1"/>
              <a:t>Niveau</a:t>
            </a:r>
            <a:endParaRPr lang="en-GB"/>
          </a:p>
          <a:p>
            <a:pPr lvl="1"/>
            <a:r>
              <a:rPr lang="en-GB"/>
              <a:t>Systeem / Acceptatie.</a:t>
            </a:r>
          </a:p>
          <a:p>
            <a:r>
              <a:rPr lang="en-GB"/>
              <a:t>Methode</a:t>
            </a:r>
          </a:p>
          <a:p>
            <a:pPr lvl="1"/>
            <a:r>
              <a:rPr lang="en-GB"/>
              <a:t>White box (laat het je hopen dat het geen black box is).</a:t>
            </a:r>
          </a:p>
        </p:txBody>
      </p:sp>
    </p:spTree>
    <p:extLst>
      <p:ext uri="{BB962C8B-B14F-4D97-AF65-F5344CB8AC3E}">
        <p14:creationId xmlns:p14="http://schemas.microsoft.com/office/powerpoint/2010/main" val="195828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dirty="0" err="1"/>
              <a:t>Performantie</a:t>
            </a:r>
            <a:r>
              <a:rPr lang="en-GB" dirty="0"/>
              <a:t> test (Performance)</a:t>
            </a:r>
            <a:endParaRPr lang="en-US" dirty="0"/>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13</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dirty="0" err="1"/>
              <a:t>Onderzoeken</a:t>
            </a:r>
            <a:r>
              <a:rPr lang="en-GB" dirty="0"/>
              <a:t>, </a:t>
            </a:r>
            <a:r>
              <a:rPr lang="en-GB" dirty="0" err="1"/>
              <a:t>meten</a:t>
            </a:r>
            <a:r>
              <a:rPr lang="en-GB" dirty="0"/>
              <a:t>, </a:t>
            </a:r>
            <a:r>
              <a:rPr lang="en-GB" dirty="0" err="1"/>
              <a:t>checken</a:t>
            </a:r>
            <a:r>
              <a:rPr lang="en-GB" dirty="0"/>
              <a:t> en </a:t>
            </a:r>
            <a:r>
              <a:rPr lang="en-GB" dirty="0" err="1"/>
              <a:t>valideren</a:t>
            </a:r>
            <a:r>
              <a:rPr lang="en-GB" dirty="0"/>
              <a:t> of het </a:t>
            </a:r>
            <a:r>
              <a:rPr lang="en-GB" dirty="0" err="1"/>
              <a:t>systeem</a:t>
            </a:r>
            <a:r>
              <a:rPr lang="en-GB" dirty="0"/>
              <a:t> correct </a:t>
            </a:r>
            <a:r>
              <a:rPr lang="en-GB" dirty="0" err="1"/>
              <a:t>reageert</a:t>
            </a:r>
            <a:r>
              <a:rPr lang="en-GB" dirty="0"/>
              <a:t> </a:t>
            </a:r>
            <a:r>
              <a:rPr lang="en-GB" dirty="0" err="1"/>
              <a:t>onder</a:t>
            </a:r>
            <a:r>
              <a:rPr lang="en-GB" dirty="0"/>
              <a:t> </a:t>
            </a:r>
            <a:r>
              <a:rPr lang="en-GB" dirty="0" err="1"/>
              <a:t>bepaalde</a:t>
            </a:r>
            <a:r>
              <a:rPr lang="en-GB" dirty="0"/>
              <a:t> </a:t>
            </a:r>
            <a:r>
              <a:rPr lang="en-GB" dirty="0" err="1"/>
              <a:t>omstandigen</a:t>
            </a:r>
            <a:r>
              <a:rPr lang="en-GB" dirty="0"/>
              <a:t>.</a:t>
            </a:r>
          </a:p>
          <a:p>
            <a:r>
              <a:rPr lang="en-GB" dirty="0"/>
              <a:t>Doel</a:t>
            </a:r>
          </a:p>
          <a:p>
            <a:pPr lvl="1"/>
            <a:r>
              <a:rPr lang="en-GB" dirty="0"/>
              <a:t>Is de </a:t>
            </a:r>
            <a:r>
              <a:rPr lang="en-GB" dirty="0" err="1"/>
              <a:t>responstijd</a:t>
            </a:r>
            <a:r>
              <a:rPr lang="en-GB" dirty="0"/>
              <a:t> van het </a:t>
            </a:r>
            <a:r>
              <a:rPr lang="en-GB" dirty="0" err="1"/>
              <a:t>systeem</a:t>
            </a:r>
            <a:r>
              <a:rPr lang="en-GB" dirty="0"/>
              <a:t> </a:t>
            </a:r>
            <a:r>
              <a:rPr lang="en-GB" dirty="0" err="1"/>
              <a:t>goed</a:t>
            </a:r>
            <a:r>
              <a:rPr lang="en-GB" dirty="0"/>
              <a:t>?</a:t>
            </a:r>
          </a:p>
          <a:p>
            <a:r>
              <a:rPr lang="en-GB" dirty="0" err="1"/>
              <a:t>Wanneer</a:t>
            </a:r>
            <a:endParaRPr lang="en-GB" dirty="0"/>
          </a:p>
          <a:p>
            <a:pPr lvl="1"/>
            <a:r>
              <a:rPr lang="en-GB" dirty="0"/>
              <a:t>Net </a:t>
            </a:r>
            <a:r>
              <a:rPr lang="en-GB" dirty="0" err="1"/>
              <a:t>voordat</a:t>
            </a:r>
            <a:r>
              <a:rPr lang="en-GB" dirty="0"/>
              <a:t> het </a:t>
            </a:r>
            <a:r>
              <a:rPr lang="en-GB" dirty="0" err="1"/>
              <a:t>echt</a:t>
            </a:r>
            <a:r>
              <a:rPr lang="en-GB" dirty="0"/>
              <a:t> </a:t>
            </a:r>
            <a:r>
              <a:rPr lang="en-GB" dirty="0" err="1"/>
              <a:t>nodig</a:t>
            </a:r>
            <a:r>
              <a:rPr lang="en-GB" dirty="0"/>
              <a:t> is.</a:t>
            </a:r>
          </a:p>
          <a:p>
            <a:r>
              <a:rPr lang="en-GB" dirty="0"/>
              <a:t>Wie</a:t>
            </a:r>
          </a:p>
          <a:p>
            <a:pPr lvl="1"/>
            <a:r>
              <a:rPr lang="en-GB" dirty="0"/>
              <a:t>Testers en </a:t>
            </a:r>
            <a:r>
              <a:rPr lang="en-GB" dirty="0" err="1"/>
              <a:t>gespecialiseerde</a:t>
            </a:r>
            <a:r>
              <a:rPr lang="en-GB" dirty="0"/>
              <a:t> teams.</a:t>
            </a:r>
          </a:p>
          <a:p>
            <a:r>
              <a:rPr lang="en-GB" dirty="0" err="1"/>
              <a:t>Niveau</a:t>
            </a:r>
            <a:endParaRPr lang="en-GB" dirty="0"/>
          </a:p>
          <a:p>
            <a:pPr lvl="1"/>
            <a:r>
              <a:rPr lang="en-GB" dirty="0" err="1"/>
              <a:t>Systeem</a:t>
            </a:r>
            <a:r>
              <a:rPr lang="en-GB" dirty="0"/>
              <a:t> / </a:t>
            </a:r>
            <a:r>
              <a:rPr lang="en-GB" dirty="0" err="1"/>
              <a:t>Acceptatie</a:t>
            </a:r>
            <a:r>
              <a:rPr lang="en-GB" dirty="0"/>
              <a:t>.</a:t>
            </a:r>
          </a:p>
          <a:p>
            <a:r>
              <a:rPr lang="en-GB" dirty="0" err="1"/>
              <a:t>Methode</a:t>
            </a:r>
            <a:endParaRPr lang="en-GB" dirty="0"/>
          </a:p>
          <a:p>
            <a:pPr lvl="1"/>
            <a:r>
              <a:rPr lang="en-GB" dirty="0"/>
              <a:t>Alle </a:t>
            </a:r>
            <a:r>
              <a:rPr lang="en-GB" dirty="0" err="1"/>
              <a:t>methodes</a:t>
            </a:r>
            <a:r>
              <a:rPr lang="en-GB" dirty="0"/>
              <a:t>, </a:t>
            </a:r>
            <a:r>
              <a:rPr lang="en-GB" dirty="0" err="1"/>
              <a:t>hoofdzakelijk</a:t>
            </a:r>
            <a:r>
              <a:rPr lang="en-GB" dirty="0"/>
              <a:t> Black box.</a:t>
            </a:r>
          </a:p>
        </p:txBody>
      </p:sp>
    </p:spTree>
    <p:extLst>
      <p:ext uri="{BB962C8B-B14F-4D97-AF65-F5344CB8AC3E}">
        <p14:creationId xmlns:p14="http://schemas.microsoft.com/office/powerpoint/2010/main" val="205401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Acceptatie Criteria testen (Type)</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Definitie</a:t>
            </a:r>
          </a:p>
          <a:p>
            <a:pPr lvl="1"/>
            <a:r>
              <a:rPr lang="en-GB"/>
              <a:t>Testen of functionaliteit (User Story) goed genoeg is om aanvaard te worden. Niet verwarren met Acceptatie Testen (Niveau).</a:t>
            </a:r>
          </a:p>
          <a:p>
            <a:r>
              <a:rPr lang="en-GB"/>
              <a:t>Doel</a:t>
            </a:r>
          </a:p>
          <a:p>
            <a:pPr lvl="1"/>
            <a:r>
              <a:rPr lang="en-GB"/>
              <a:t>Wanneer kun je een User Story beschouwen als afgewerkt.</a:t>
            </a:r>
          </a:p>
          <a:p>
            <a:r>
              <a:rPr lang="en-GB" err="1"/>
              <a:t>Wanneer</a:t>
            </a:r>
            <a:endParaRPr lang="en-GB"/>
          </a:p>
          <a:p>
            <a:pPr lvl="1"/>
            <a:r>
              <a:rPr lang="en-GB"/>
              <a:t>Tijdens de ontwikkeling.</a:t>
            </a:r>
          </a:p>
          <a:p>
            <a:r>
              <a:rPr lang="en-GB"/>
              <a:t>Wie</a:t>
            </a:r>
          </a:p>
          <a:p>
            <a:pPr lvl="1"/>
            <a:r>
              <a:rPr lang="en-GB"/>
              <a:t>Developers team in een agile omgeving.</a:t>
            </a:r>
          </a:p>
          <a:p>
            <a:r>
              <a:rPr lang="en-GB" err="1"/>
              <a:t>Niveau</a:t>
            </a:r>
            <a:endParaRPr lang="en-GB"/>
          </a:p>
          <a:p>
            <a:pPr lvl="1"/>
            <a:r>
              <a:rPr lang="en-GB"/>
              <a:t>Unit / Component / Integratie / Systeem.</a:t>
            </a:r>
          </a:p>
          <a:p>
            <a:r>
              <a:rPr lang="en-GB"/>
              <a:t>Methode</a:t>
            </a:r>
          </a:p>
          <a:p>
            <a:pPr lvl="1"/>
            <a:r>
              <a:rPr lang="en-GB"/>
              <a:t>Agile testen.</a:t>
            </a:r>
          </a:p>
          <a:p>
            <a:pPr lvl="1"/>
            <a:endParaRPr lang="en-GB"/>
          </a:p>
        </p:txBody>
      </p:sp>
    </p:spTree>
    <p:extLst>
      <p:ext uri="{BB962C8B-B14F-4D97-AF65-F5344CB8AC3E}">
        <p14:creationId xmlns:p14="http://schemas.microsoft.com/office/powerpoint/2010/main" val="354912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Acceptatie Criteria testen (Type)</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15</a:t>
            </a:fld>
            <a:endParaRPr lang="en-US"/>
          </a:p>
        </p:txBody>
      </p:sp>
      <p:pic>
        <p:nvPicPr>
          <p:cNvPr id="5" name="Picture 4" descr="Diagram&#10;&#10;Description automatically generated">
            <a:extLst>
              <a:ext uri="{FF2B5EF4-FFF2-40B4-BE49-F238E27FC236}">
                <a16:creationId xmlns:a16="http://schemas.microsoft.com/office/drawing/2014/main" id="{57AF76FA-8B8B-4E4D-A1BB-4151EBB445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7672" y="1458957"/>
            <a:ext cx="6081162" cy="5591403"/>
          </a:xfrm>
          <a:prstGeom prst="rect">
            <a:avLst/>
          </a:prstGeom>
        </p:spPr>
      </p:pic>
    </p:spTree>
    <p:extLst>
      <p:ext uri="{BB962C8B-B14F-4D97-AF65-F5344CB8AC3E}">
        <p14:creationId xmlns:p14="http://schemas.microsoft.com/office/powerpoint/2010/main" val="1435891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err="1"/>
              <a:t>Regressie</a:t>
            </a:r>
            <a:r>
              <a:rPr lang="en-GB"/>
              <a:t> test (Regression)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16</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Heruitvoeren van testen die in het verleden geslaagd waren.</a:t>
            </a:r>
          </a:p>
          <a:p>
            <a:r>
              <a:rPr lang="en-GB"/>
              <a:t>Doel</a:t>
            </a:r>
          </a:p>
          <a:p>
            <a:pPr lvl="1"/>
            <a:r>
              <a:rPr lang="en-GB"/>
              <a:t>Kijken of vroeger werkende software nog steeds werkt.</a:t>
            </a:r>
          </a:p>
          <a:p>
            <a:r>
              <a:rPr lang="en-GB" err="1"/>
              <a:t>Wanneer</a:t>
            </a:r>
            <a:endParaRPr lang="en-GB"/>
          </a:p>
          <a:p>
            <a:pPr lvl="1"/>
            <a:r>
              <a:rPr lang="en-GB"/>
              <a:t>Ganse ontwikkel proces door.</a:t>
            </a:r>
          </a:p>
          <a:p>
            <a:r>
              <a:rPr lang="en-GB"/>
              <a:t>Wie</a:t>
            </a:r>
          </a:p>
          <a:p>
            <a:pPr lvl="1"/>
            <a:r>
              <a:rPr lang="en-GB"/>
              <a:t>Developers / Testers.</a:t>
            </a:r>
          </a:p>
          <a:p>
            <a:r>
              <a:rPr lang="en-GB" err="1"/>
              <a:t>Niveau</a:t>
            </a:r>
            <a:endParaRPr lang="en-GB"/>
          </a:p>
          <a:p>
            <a:pPr lvl="1"/>
            <a:r>
              <a:rPr lang="en-GB"/>
              <a:t>Component / Unit / Integratie en systeem.</a:t>
            </a:r>
          </a:p>
          <a:p>
            <a:r>
              <a:rPr lang="en-GB"/>
              <a:t>Methode</a:t>
            </a:r>
          </a:p>
          <a:p>
            <a:pPr lvl="1"/>
            <a:r>
              <a:rPr lang="en-GB"/>
              <a:t>Alle methodes.</a:t>
            </a:r>
          </a:p>
        </p:txBody>
      </p:sp>
    </p:spTree>
    <p:extLst>
      <p:ext uri="{BB962C8B-B14F-4D97-AF65-F5344CB8AC3E}">
        <p14:creationId xmlns:p14="http://schemas.microsoft.com/office/powerpoint/2010/main" val="44086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err="1"/>
              <a:t>Niet</a:t>
            </a:r>
            <a:r>
              <a:rPr lang="en-GB"/>
              <a:t> </a:t>
            </a:r>
            <a:r>
              <a:rPr lang="en-GB" err="1"/>
              <a:t>Regressie</a:t>
            </a:r>
            <a:r>
              <a:rPr lang="en-GB"/>
              <a:t> test (Non-Regression)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17</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Testen van wijzigingen op bestaande functionaliteiten om te controleren of de originele werking nog steeds in orde is.</a:t>
            </a:r>
          </a:p>
          <a:p>
            <a:r>
              <a:rPr lang="en-GB"/>
              <a:t>Doel</a:t>
            </a:r>
          </a:p>
          <a:p>
            <a:pPr lvl="1"/>
            <a:r>
              <a:rPr lang="en-GB"/>
              <a:t>Vermijden van fouten die optreden door het aanpassen van code.</a:t>
            </a:r>
          </a:p>
          <a:p>
            <a:r>
              <a:rPr lang="en-GB" err="1"/>
              <a:t>Wanneer</a:t>
            </a:r>
            <a:endParaRPr lang="en-GB"/>
          </a:p>
          <a:p>
            <a:pPr lvl="1"/>
            <a:r>
              <a:rPr lang="en-GB"/>
              <a:t>Tijdens het volledige ontwikkel proces.</a:t>
            </a:r>
          </a:p>
          <a:p>
            <a:r>
              <a:rPr lang="en-GB"/>
              <a:t>Wie</a:t>
            </a:r>
          </a:p>
          <a:p>
            <a:pPr lvl="1"/>
            <a:r>
              <a:rPr lang="en-GB"/>
              <a:t>Testers.</a:t>
            </a:r>
          </a:p>
          <a:p>
            <a:r>
              <a:rPr lang="en-GB" err="1"/>
              <a:t>Niveau</a:t>
            </a:r>
            <a:endParaRPr lang="en-GB"/>
          </a:p>
          <a:p>
            <a:pPr lvl="1"/>
            <a:r>
              <a:rPr lang="en-GB"/>
              <a:t>Unit / Component / Integratie / Systeem.</a:t>
            </a:r>
          </a:p>
          <a:p>
            <a:r>
              <a:rPr lang="en-GB"/>
              <a:t>Methode</a:t>
            </a:r>
          </a:p>
          <a:p>
            <a:pPr lvl="1"/>
            <a:r>
              <a:rPr lang="en-GB"/>
              <a:t>Alle methodes.</a:t>
            </a:r>
          </a:p>
        </p:txBody>
      </p:sp>
    </p:spTree>
    <p:extLst>
      <p:ext uri="{BB962C8B-B14F-4D97-AF65-F5344CB8AC3E}">
        <p14:creationId xmlns:p14="http://schemas.microsoft.com/office/powerpoint/2010/main" val="19613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a:xfrm>
            <a:off x="536128" y="472965"/>
            <a:ext cx="9296400" cy="720080"/>
          </a:xfrm>
        </p:spPr>
        <p:txBody>
          <a:bodyPr/>
          <a:lstStyle/>
          <a:p>
            <a:r>
              <a:rPr lang="en-GB" err="1"/>
              <a:t>Regressie</a:t>
            </a:r>
            <a:r>
              <a:rPr lang="en-GB"/>
              <a:t> test </a:t>
            </a:r>
            <a:r>
              <a:rPr lang="en-GB">
                <a:sym typeface="Wingdings" panose="05000000000000000000" pitchFamily="2" charset="2"/>
              </a:rPr>
              <a:t> </a:t>
            </a:r>
            <a:r>
              <a:rPr lang="en-GB" err="1"/>
              <a:t>Niet</a:t>
            </a:r>
            <a:r>
              <a:rPr lang="en-GB"/>
              <a:t> </a:t>
            </a:r>
            <a:r>
              <a:rPr lang="en-GB" err="1"/>
              <a:t>Regressie</a:t>
            </a:r>
            <a:r>
              <a:rPr lang="en-GB"/>
              <a:t> test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18</a:t>
            </a:fld>
            <a:endParaRPr lang="en-US"/>
          </a:p>
        </p:txBody>
      </p:sp>
      <p:sp>
        <p:nvSpPr>
          <p:cNvPr id="7" name="Arrow: Down 6">
            <a:extLst>
              <a:ext uri="{FF2B5EF4-FFF2-40B4-BE49-F238E27FC236}">
                <a16:creationId xmlns:a16="http://schemas.microsoft.com/office/drawing/2014/main" id="{45250974-80BF-47AA-92D5-F51476E3A8E6}"/>
              </a:ext>
            </a:extLst>
          </p:cNvPr>
          <p:cNvSpPr/>
          <p:nvPr/>
        </p:nvSpPr>
        <p:spPr>
          <a:xfrm>
            <a:off x="903536" y="1289720"/>
            <a:ext cx="648072" cy="52565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err="1"/>
              <a:t>Tijdslijn</a:t>
            </a:r>
            <a:endParaRPr lang="nl-BE"/>
          </a:p>
        </p:txBody>
      </p:sp>
      <p:sp>
        <p:nvSpPr>
          <p:cNvPr id="8" name="Rectangle 7">
            <a:extLst>
              <a:ext uri="{FF2B5EF4-FFF2-40B4-BE49-F238E27FC236}">
                <a16:creationId xmlns:a16="http://schemas.microsoft.com/office/drawing/2014/main" id="{2D19EBD1-1B7E-4E37-B6F0-47060B8208B9}"/>
              </a:ext>
            </a:extLst>
          </p:cNvPr>
          <p:cNvSpPr/>
          <p:nvPr/>
        </p:nvSpPr>
        <p:spPr>
          <a:xfrm>
            <a:off x="2199680" y="1289720"/>
            <a:ext cx="4752528"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Werkende</a:t>
            </a:r>
            <a:r>
              <a:rPr lang="en-US">
                <a:solidFill>
                  <a:schemeClr val="tx1"/>
                </a:solidFill>
              </a:rPr>
              <a:t> Functionaliteit (Stabiele code)</a:t>
            </a:r>
            <a:endParaRPr lang="nl-BE">
              <a:solidFill>
                <a:schemeClr val="tx1"/>
              </a:solidFill>
            </a:endParaRPr>
          </a:p>
        </p:txBody>
      </p:sp>
      <p:sp>
        <p:nvSpPr>
          <p:cNvPr id="9" name="Rectangle 8">
            <a:extLst>
              <a:ext uri="{FF2B5EF4-FFF2-40B4-BE49-F238E27FC236}">
                <a16:creationId xmlns:a16="http://schemas.microsoft.com/office/drawing/2014/main" id="{391540DF-8D8B-4EAA-8244-B461130D66AA}"/>
              </a:ext>
            </a:extLst>
          </p:cNvPr>
          <p:cNvSpPr/>
          <p:nvPr/>
        </p:nvSpPr>
        <p:spPr>
          <a:xfrm>
            <a:off x="3423816" y="2006125"/>
            <a:ext cx="3528392" cy="36004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Regressie testen (Werkt het nog?)</a:t>
            </a:r>
            <a:endParaRPr lang="nl-BE">
              <a:solidFill>
                <a:schemeClr val="tx1"/>
              </a:solidFill>
            </a:endParaRPr>
          </a:p>
        </p:txBody>
      </p:sp>
      <p:sp>
        <p:nvSpPr>
          <p:cNvPr id="10" name="Arrow: Bent 9">
            <a:extLst>
              <a:ext uri="{FF2B5EF4-FFF2-40B4-BE49-F238E27FC236}">
                <a16:creationId xmlns:a16="http://schemas.microsoft.com/office/drawing/2014/main" id="{DA65D906-73A2-4703-82B8-D384AF8270B5}"/>
              </a:ext>
            </a:extLst>
          </p:cNvPr>
          <p:cNvSpPr/>
          <p:nvPr/>
        </p:nvSpPr>
        <p:spPr>
          <a:xfrm rot="16200000">
            <a:off x="2781057" y="1631758"/>
            <a:ext cx="612068" cy="648072"/>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1" name="Rectangle 10">
            <a:extLst>
              <a:ext uri="{FF2B5EF4-FFF2-40B4-BE49-F238E27FC236}">
                <a16:creationId xmlns:a16="http://schemas.microsoft.com/office/drawing/2014/main" id="{4A5FFFF4-42B1-468F-8934-85759CC67793}"/>
              </a:ext>
            </a:extLst>
          </p:cNvPr>
          <p:cNvSpPr/>
          <p:nvPr/>
        </p:nvSpPr>
        <p:spPr>
          <a:xfrm>
            <a:off x="2199680" y="5454150"/>
            <a:ext cx="7056784"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Werkende</a:t>
            </a:r>
            <a:r>
              <a:rPr lang="en-US">
                <a:solidFill>
                  <a:schemeClr val="tx1"/>
                </a:solidFill>
              </a:rPr>
              <a:t> Functionaliteit (Stabiele code)</a:t>
            </a:r>
            <a:endParaRPr lang="nl-BE">
              <a:solidFill>
                <a:schemeClr val="tx1"/>
              </a:solidFill>
            </a:endParaRPr>
          </a:p>
        </p:txBody>
      </p:sp>
      <p:sp>
        <p:nvSpPr>
          <p:cNvPr id="12" name="Rectangle 11">
            <a:extLst>
              <a:ext uri="{FF2B5EF4-FFF2-40B4-BE49-F238E27FC236}">
                <a16:creationId xmlns:a16="http://schemas.microsoft.com/office/drawing/2014/main" id="{082FB919-6B02-4E81-B981-8DA01412C86F}"/>
              </a:ext>
            </a:extLst>
          </p:cNvPr>
          <p:cNvSpPr/>
          <p:nvPr/>
        </p:nvSpPr>
        <p:spPr>
          <a:xfrm>
            <a:off x="3423816" y="6170555"/>
            <a:ext cx="5832648" cy="36004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Regressie testen (Werkt het nog?)</a:t>
            </a:r>
            <a:endParaRPr lang="nl-BE">
              <a:solidFill>
                <a:schemeClr val="tx1"/>
              </a:solidFill>
            </a:endParaRPr>
          </a:p>
        </p:txBody>
      </p:sp>
      <p:sp>
        <p:nvSpPr>
          <p:cNvPr id="13" name="Arrow: Bent 12">
            <a:extLst>
              <a:ext uri="{FF2B5EF4-FFF2-40B4-BE49-F238E27FC236}">
                <a16:creationId xmlns:a16="http://schemas.microsoft.com/office/drawing/2014/main" id="{EFE9A6C9-31CD-4DBF-BE6C-CDDEE38ACA2B}"/>
              </a:ext>
            </a:extLst>
          </p:cNvPr>
          <p:cNvSpPr/>
          <p:nvPr/>
        </p:nvSpPr>
        <p:spPr>
          <a:xfrm rot="16200000">
            <a:off x="2781057" y="5796188"/>
            <a:ext cx="612068" cy="648072"/>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4" name="Rectangle 13">
            <a:extLst>
              <a:ext uri="{FF2B5EF4-FFF2-40B4-BE49-F238E27FC236}">
                <a16:creationId xmlns:a16="http://schemas.microsoft.com/office/drawing/2014/main" id="{0E84DBF6-872D-4B83-8838-1BA7290FC35B}"/>
              </a:ext>
            </a:extLst>
          </p:cNvPr>
          <p:cNvSpPr/>
          <p:nvPr/>
        </p:nvSpPr>
        <p:spPr>
          <a:xfrm>
            <a:off x="2199680" y="2798118"/>
            <a:ext cx="4752528" cy="36004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Werkende</a:t>
            </a:r>
            <a:r>
              <a:rPr lang="en-US">
                <a:solidFill>
                  <a:schemeClr val="tx1"/>
                </a:solidFill>
              </a:rPr>
              <a:t> Functionaliteit (Stabiele code)</a:t>
            </a:r>
            <a:endParaRPr lang="nl-BE">
              <a:solidFill>
                <a:schemeClr val="tx1"/>
              </a:solidFill>
            </a:endParaRPr>
          </a:p>
        </p:txBody>
      </p:sp>
      <p:sp>
        <p:nvSpPr>
          <p:cNvPr id="15" name="Rectangle 14">
            <a:extLst>
              <a:ext uri="{FF2B5EF4-FFF2-40B4-BE49-F238E27FC236}">
                <a16:creationId xmlns:a16="http://schemas.microsoft.com/office/drawing/2014/main" id="{10EF66AF-F965-4D59-AFB9-3B4149AA3FD1}"/>
              </a:ext>
            </a:extLst>
          </p:cNvPr>
          <p:cNvSpPr/>
          <p:nvPr/>
        </p:nvSpPr>
        <p:spPr>
          <a:xfrm>
            <a:off x="3423816" y="3514523"/>
            <a:ext cx="3528392" cy="36004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Regressie testen (Werkt het nog?)</a:t>
            </a:r>
            <a:endParaRPr lang="nl-BE">
              <a:solidFill>
                <a:schemeClr val="tx1"/>
              </a:solidFill>
            </a:endParaRPr>
          </a:p>
        </p:txBody>
      </p:sp>
      <p:sp>
        <p:nvSpPr>
          <p:cNvPr id="16" name="Arrow: Bent 15">
            <a:extLst>
              <a:ext uri="{FF2B5EF4-FFF2-40B4-BE49-F238E27FC236}">
                <a16:creationId xmlns:a16="http://schemas.microsoft.com/office/drawing/2014/main" id="{E3C51CB1-631A-47F5-9234-8E3B13DE64C2}"/>
              </a:ext>
            </a:extLst>
          </p:cNvPr>
          <p:cNvSpPr/>
          <p:nvPr/>
        </p:nvSpPr>
        <p:spPr>
          <a:xfrm rot="16200000">
            <a:off x="2781057" y="3140156"/>
            <a:ext cx="612068" cy="648072"/>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8" name="Rectangle 17">
            <a:extLst>
              <a:ext uri="{FF2B5EF4-FFF2-40B4-BE49-F238E27FC236}">
                <a16:creationId xmlns:a16="http://schemas.microsoft.com/office/drawing/2014/main" id="{B1A055EF-3475-4200-AAFE-422C7A39D712}"/>
              </a:ext>
            </a:extLst>
          </p:cNvPr>
          <p:cNvSpPr/>
          <p:nvPr/>
        </p:nvSpPr>
        <p:spPr>
          <a:xfrm>
            <a:off x="3423816" y="4635224"/>
            <a:ext cx="4320480" cy="36004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Niet Regressie testen (Werkt het samen?)</a:t>
            </a:r>
            <a:endParaRPr lang="nl-BE">
              <a:solidFill>
                <a:schemeClr val="tx1"/>
              </a:solidFill>
            </a:endParaRPr>
          </a:p>
        </p:txBody>
      </p:sp>
      <p:sp>
        <p:nvSpPr>
          <p:cNvPr id="19" name="Rectangle 18">
            <a:extLst>
              <a:ext uri="{FF2B5EF4-FFF2-40B4-BE49-F238E27FC236}">
                <a16:creationId xmlns:a16="http://schemas.microsoft.com/office/drawing/2014/main" id="{69E5634C-DD6D-4A67-B2A3-4F5525562505}"/>
              </a:ext>
            </a:extLst>
          </p:cNvPr>
          <p:cNvSpPr/>
          <p:nvPr/>
        </p:nvSpPr>
        <p:spPr>
          <a:xfrm>
            <a:off x="6952208" y="2798118"/>
            <a:ext cx="2469976"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Uitbreiding (Nieuw)</a:t>
            </a:r>
            <a:endParaRPr lang="nl-BE">
              <a:solidFill>
                <a:schemeClr val="tx1"/>
              </a:solidFill>
            </a:endParaRPr>
          </a:p>
        </p:txBody>
      </p:sp>
      <p:sp>
        <p:nvSpPr>
          <p:cNvPr id="20" name="Arrow: Bent 19">
            <a:extLst>
              <a:ext uri="{FF2B5EF4-FFF2-40B4-BE49-F238E27FC236}">
                <a16:creationId xmlns:a16="http://schemas.microsoft.com/office/drawing/2014/main" id="{DEB39766-9AC2-4834-83D4-04635285A86E}"/>
              </a:ext>
            </a:extLst>
          </p:cNvPr>
          <p:cNvSpPr/>
          <p:nvPr/>
        </p:nvSpPr>
        <p:spPr>
          <a:xfrm rot="16200000">
            <a:off x="1934227" y="3423610"/>
            <a:ext cx="1729663" cy="1198758"/>
          </a:xfrm>
          <a:prstGeom prst="bentArrow">
            <a:avLst>
              <a:gd name="adj1" fmla="val 14902"/>
              <a:gd name="adj2" fmla="val 25000"/>
              <a:gd name="adj3" fmla="val 30049"/>
              <a:gd name="adj4" fmla="val 43750"/>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8100000" scaled="1"/>
            <a:tileRect/>
          </a:gra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1" name="Arrow: Bent 20">
            <a:extLst>
              <a:ext uri="{FF2B5EF4-FFF2-40B4-BE49-F238E27FC236}">
                <a16:creationId xmlns:a16="http://schemas.microsoft.com/office/drawing/2014/main" id="{8889924D-CA3E-46B1-994A-6FE68DA71B37}"/>
              </a:ext>
            </a:extLst>
          </p:cNvPr>
          <p:cNvSpPr/>
          <p:nvPr/>
        </p:nvSpPr>
        <p:spPr>
          <a:xfrm rot="16200000" flipV="1">
            <a:off x="7504219" y="3452860"/>
            <a:ext cx="1729665" cy="1198760"/>
          </a:xfrm>
          <a:prstGeom prst="bentArrow">
            <a:avLst>
              <a:gd name="adj1" fmla="val 14902"/>
              <a:gd name="adj2" fmla="val 25000"/>
              <a:gd name="adj3" fmla="val 30049"/>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2" name="Rectangle 21">
            <a:extLst>
              <a:ext uri="{FF2B5EF4-FFF2-40B4-BE49-F238E27FC236}">
                <a16:creationId xmlns:a16="http://schemas.microsoft.com/office/drawing/2014/main" id="{483535D9-A6EF-4547-8AEE-DC35ACB0D18E}"/>
              </a:ext>
            </a:extLst>
          </p:cNvPr>
          <p:cNvSpPr/>
          <p:nvPr/>
        </p:nvSpPr>
        <p:spPr>
          <a:xfrm>
            <a:off x="3135784" y="4098032"/>
            <a:ext cx="3816424" cy="36004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Acceptatie criteria testen (Werkt het?)</a:t>
            </a:r>
            <a:endParaRPr lang="nl-BE">
              <a:solidFill>
                <a:schemeClr val="tx1"/>
              </a:solidFill>
            </a:endParaRPr>
          </a:p>
        </p:txBody>
      </p:sp>
      <p:sp>
        <p:nvSpPr>
          <p:cNvPr id="23" name="Arrow: Bent 22">
            <a:extLst>
              <a:ext uri="{FF2B5EF4-FFF2-40B4-BE49-F238E27FC236}">
                <a16:creationId xmlns:a16="http://schemas.microsoft.com/office/drawing/2014/main" id="{CD0F5FEE-192E-4BEA-8C34-D63F23A2ABFF}"/>
              </a:ext>
            </a:extLst>
          </p:cNvPr>
          <p:cNvSpPr/>
          <p:nvPr/>
        </p:nvSpPr>
        <p:spPr>
          <a:xfrm rot="16200000" flipV="1">
            <a:off x="7009727" y="3170354"/>
            <a:ext cx="1164653" cy="1198760"/>
          </a:xfrm>
          <a:prstGeom prst="bentArrow">
            <a:avLst>
              <a:gd name="adj1" fmla="val 14902"/>
              <a:gd name="adj2" fmla="val 25000"/>
              <a:gd name="adj3" fmla="val 30049"/>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Tree>
    <p:extLst>
      <p:ext uri="{BB962C8B-B14F-4D97-AF65-F5344CB8AC3E}">
        <p14:creationId xmlns:p14="http://schemas.microsoft.com/office/powerpoint/2010/main" val="28798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err="1"/>
              <a:t>Conformiteitstest</a:t>
            </a:r>
            <a:r>
              <a:rPr lang="en-GB"/>
              <a:t> (Compliance test)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19</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Voldoet de toepassing aan wettelijke en regulerende voorschriften.</a:t>
            </a:r>
          </a:p>
          <a:p>
            <a:r>
              <a:rPr lang="en-GB"/>
              <a:t>Doel</a:t>
            </a:r>
          </a:p>
          <a:p>
            <a:pPr lvl="1"/>
            <a:r>
              <a:rPr lang="en-GB"/>
              <a:t>Het behalen van een certificaat.</a:t>
            </a:r>
          </a:p>
          <a:p>
            <a:r>
              <a:rPr lang="en-GB" err="1"/>
              <a:t>Wanneer</a:t>
            </a:r>
            <a:endParaRPr lang="en-GB"/>
          </a:p>
          <a:p>
            <a:pPr lvl="1"/>
            <a:r>
              <a:rPr lang="en-GB"/>
              <a:t>Net voor het afleveren van de ‘definitieve’ versie.</a:t>
            </a:r>
          </a:p>
          <a:p>
            <a:r>
              <a:rPr lang="en-GB"/>
              <a:t>Wie</a:t>
            </a:r>
          </a:p>
          <a:p>
            <a:pPr lvl="1"/>
            <a:r>
              <a:rPr lang="en-GB"/>
              <a:t>Testers en business.</a:t>
            </a:r>
          </a:p>
          <a:p>
            <a:r>
              <a:rPr lang="en-GB" err="1"/>
              <a:t>Niveau</a:t>
            </a:r>
            <a:endParaRPr lang="en-GB"/>
          </a:p>
          <a:p>
            <a:pPr lvl="1"/>
            <a:r>
              <a:rPr lang="en-GB"/>
              <a:t>Systeem en acceptatie.</a:t>
            </a:r>
          </a:p>
          <a:p>
            <a:r>
              <a:rPr lang="en-GB"/>
              <a:t>Methode</a:t>
            </a:r>
          </a:p>
          <a:p>
            <a:pPr lvl="1"/>
            <a:r>
              <a:rPr lang="en-GB"/>
              <a:t>Black box.</a:t>
            </a:r>
          </a:p>
        </p:txBody>
      </p:sp>
    </p:spTree>
    <p:extLst>
      <p:ext uri="{BB962C8B-B14F-4D97-AF65-F5344CB8AC3E}">
        <p14:creationId xmlns:p14="http://schemas.microsoft.com/office/powerpoint/2010/main" val="133330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Point to Point (P2P)</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20</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De communicatie (data transfer, command / event) tussen twee systemen (points) testen. (Zie business proces)</a:t>
            </a:r>
          </a:p>
          <a:p>
            <a:r>
              <a:rPr lang="en-GB"/>
              <a:t>Doel</a:t>
            </a:r>
          </a:p>
          <a:p>
            <a:pPr lvl="1"/>
            <a:r>
              <a:rPr lang="en-GB"/>
              <a:t>Kijken of twee systemen kunnen blijven samenwerken.</a:t>
            </a:r>
          </a:p>
          <a:p>
            <a:r>
              <a:rPr lang="en-GB" err="1"/>
              <a:t>Wanneer</a:t>
            </a:r>
            <a:endParaRPr lang="en-GB"/>
          </a:p>
          <a:p>
            <a:pPr lvl="1"/>
            <a:r>
              <a:rPr lang="en-GB"/>
              <a:t>Na bevestiging dat de twee systemen en hun interfaces klaar zijn.</a:t>
            </a:r>
          </a:p>
          <a:p>
            <a:r>
              <a:rPr lang="en-GB"/>
              <a:t>Wie</a:t>
            </a:r>
          </a:p>
          <a:p>
            <a:pPr lvl="1"/>
            <a:r>
              <a:rPr lang="en-GB"/>
              <a:t>Testers en business.</a:t>
            </a:r>
          </a:p>
          <a:p>
            <a:r>
              <a:rPr lang="en-GB" err="1"/>
              <a:t>Niveau</a:t>
            </a:r>
            <a:endParaRPr lang="en-GB"/>
          </a:p>
          <a:p>
            <a:pPr lvl="1"/>
            <a:r>
              <a:rPr lang="en-GB"/>
              <a:t>Systeem en acceptatie.</a:t>
            </a:r>
          </a:p>
          <a:p>
            <a:r>
              <a:rPr lang="en-GB"/>
              <a:t>Methode</a:t>
            </a:r>
          </a:p>
          <a:p>
            <a:pPr lvl="1"/>
            <a:r>
              <a:rPr lang="en-GB"/>
              <a:t>White box.</a:t>
            </a:r>
          </a:p>
        </p:txBody>
      </p:sp>
    </p:spTree>
    <p:extLst>
      <p:ext uri="{BB962C8B-B14F-4D97-AF65-F5344CB8AC3E}">
        <p14:creationId xmlns:p14="http://schemas.microsoft.com/office/powerpoint/2010/main" val="38550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End to End (E2E)</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21</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Meerdere point to points na elkaar.</a:t>
            </a:r>
          </a:p>
          <a:p>
            <a:r>
              <a:rPr lang="en-GB"/>
              <a:t>Doel</a:t>
            </a:r>
          </a:p>
          <a:p>
            <a:pPr lvl="1"/>
            <a:r>
              <a:rPr lang="en-GB"/>
              <a:t>Testen van het software matige onderdeel van een business proces.</a:t>
            </a:r>
          </a:p>
          <a:p>
            <a:r>
              <a:rPr lang="en-GB" err="1"/>
              <a:t>Wanneer</a:t>
            </a:r>
            <a:endParaRPr lang="en-GB"/>
          </a:p>
          <a:p>
            <a:pPr lvl="1"/>
            <a:r>
              <a:rPr lang="en-GB"/>
              <a:t>Na bevestiging dat meerdere systemen en hun interfaces klaar zijn.</a:t>
            </a:r>
          </a:p>
          <a:p>
            <a:r>
              <a:rPr lang="en-GB"/>
              <a:t>Wie</a:t>
            </a:r>
          </a:p>
          <a:p>
            <a:pPr lvl="1"/>
            <a:r>
              <a:rPr lang="en-GB"/>
              <a:t>Testers en business.</a:t>
            </a:r>
          </a:p>
          <a:p>
            <a:r>
              <a:rPr lang="en-GB" err="1"/>
              <a:t>Niveau</a:t>
            </a:r>
            <a:endParaRPr lang="en-GB"/>
          </a:p>
          <a:p>
            <a:pPr lvl="1"/>
            <a:r>
              <a:rPr lang="en-GB"/>
              <a:t>Systeem en acceptatie.</a:t>
            </a:r>
          </a:p>
          <a:p>
            <a:r>
              <a:rPr lang="en-GB"/>
              <a:t>Methode</a:t>
            </a:r>
          </a:p>
          <a:p>
            <a:pPr lvl="1"/>
            <a:r>
              <a:rPr lang="en-GB"/>
              <a:t>White box.</a:t>
            </a:r>
          </a:p>
        </p:txBody>
      </p:sp>
    </p:spTree>
    <p:extLst>
      <p:ext uri="{BB962C8B-B14F-4D97-AF65-F5344CB8AC3E}">
        <p14:creationId xmlns:p14="http://schemas.microsoft.com/office/powerpoint/2010/main" val="55891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Kantoordag test (Day at the office)</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22</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Een kantoordag wordt uitgevoerd met de nieuwe software, eventueel in parallel met de oudere software. </a:t>
            </a:r>
          </a:p>
          <a:p>
            <a:r>
              <a:rPr lang="en-GB"/>
              <a:t>Doel</a:t>
            </a:r>
          </a:p>
          <a:p>
            <a:pPr lvl="1"/>
            <a:r>
              <a:rPr lang="en-GB"/>
              <a:t>Testen van het business proces.</a:t>
            </a:r>
          </a:p>
          <a:p>
            <a:r>
              <a:rPr lang="en-GB" err="1"/>
              <a:t>Wanneer</a:t>
            </a:r>
            <a:endParaRPr lang="en-GB"/>
          </a:p>
          <a:p>
            <a:pPr lvl="1"/>
            <a:r>
              <a:rPr lang="en-GB"/>
              <a:t>Net voor het zetten in productie.</a:t>
            </a:r>
          </a:p>
          <a:p>
            <a:r>
              <a:rPr lang="en-GB"/>
              <a:t>Wie</a:t>
            </a:r>
          </a:p>
          <a:p>
            <a:pPr lvl="1"/>
            <a:r>
              <a:rPr lang="en-GB"/>
              <a:t>Business.</a:t>
            </a:r>
          </a:p>
          <a:p>
            <a:r>
              <a:rPr lang="en-GB" err="1"/>
              <a:t>Niveau</a:t>
            </a:r>
            <a:endParaRPr lang="en-GB"/>
          </a:p>
          <a:p>
            <a:pPr lvl="1"/>
            <a:r>
              <a:rPr lang="en-GB"/>
              <a:t>Acceptatie.</a:t>
            </a:r>
          </a:p>
          <a:p>
            <a:r>
              <a:rPr lang="en-GB"/>
              <a:t>Methode</a:t>
            </a:r>
          </a:p>
          <a:p>
            <a:pPr lvl="1"/>
            <a:r>
              <a:rPr lang="en-GB"/>
              <a:t>Black box.</a:t>
            </a:r>
          </a:p>
        </p:txBody>
      </p:sp>
    </p:spTree>
    <p:extLst>
      <p:ext uri="{BB962C8B-B14F-4D97-AF65-F5344CB8AC3E}">
        <p14:creationId xmlns:p14="http://schemas.microsoft.com/office/powerpoint/2010/main" val="207864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Kantoordag test (Day at the office)</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23</a:t>
            </a:fld>
            <a:endParaRPr lang="en-US"/>
          </a:p>
        </p:txBody>
      </p:sp>
      <p:pic>
        <p:nvPicPr>
          <p:cNvPr id="8" name="Picture 7" descr="Diagram&#10;&#10;Description automatically generated">
            <a:extLst>
              <a:ext uri="{FF2B5EF4-FFF2-40B4-BE49-F238E27FC236}">
                <a16:creationId xmlns:a16="http://schemas.microsoft.com/office/drawing/2014/main" id="{C3826725-3E23-4037-ADEB-39990E92A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414" y="1371259"/>
            <a:ext cx="9831172" cy="4877481"/>
          </a:xfrm>
          <a:prstGeom prst="rect">
            <a:avLst/>
          </a:prstGeom>
        </p:spPr>
      </p:pic>
    </p:spTree>
    <p:extLst>
      <p:ext uri="{BB962C8B-B14F-4D97-AF65-F5344CB8AC3E}">
        <p14:creationId xmlns:p14="http://schemas.microsoft.com/office/powerpoint/2010/main" val="903093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Alle paren test (All Pairs)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err="1"/>
              <a:t>Definitie</a:t>
            </a:r>
            <a:endParaRPr lang="en-GB"/>
          </a:p>
          <a:p>
            <a:pPr lvl="1"/>
            <a:r>
              <a:rPr lang="en-GB"/>
              <a:t>Je test een functionaliteit met waardes van 2 parameters uit een lijst van parameters.</a:t>
            </a:r>
          </a:p>
          <a:p>
            <a:r>
              <a:rPr lang="en-GB"/>
              <a:t>Doel</a:t>
            </a:r>
          </a:p>
          <a:p>
            <a:pPr lvl="1"/>
            <a:r>
              <a:rPr lang="en-GB"/>
              <a:t>Het verminderen van de wet van de grote getallen.</a:t>
            </a:r>
          </a:p>
          <a:p>
            <a:r>
              <a:rPr lang="en-GB" err="1"/>
              <a:t>Wanneer</a:t>
            </a:r>
            <a:endParaRPr lang="en-GB"/>
          </a:p>
          <a:p>
            <a:pPr lvl="1"/>
            <a:r>
              <a:rPr lang="en-GB"/>
              <a:t>Integratie / Systeem.</a:t>
            </a:r>
          </a:p>
          <a:p>
            <a:r>
              <a:rPr lang="en-GB"/>
              <a:t>Wie</a:t>
            </a:r>
          </a:p>
          <a:p>
            <a:pPr lvl="1"/>
            <a:r>
              <a:rPr lang="en-GB"/>
              <a:t>Testers.</a:t>
            </a:r>
          </a:p>
          <a:p>
            <a:r>
              <a:rPr lang="en-GB" err="1"/>
              <a:t>Niveau</a:t>
            </a:r>
            <a:endParaRPr lang="en-GB"/>
          </a:p>
          <a:p>
            <a:pPr lvl="1"/>
            <a:r>
              <a:rPr lang="en-GB"/>
              <a:t>Unit / Component / Integratie.</a:t>
            </a:r>
          </a:p>
          <a:p>
            <a:r>
              <a:rPr lang="en-GB"/>
              <a:t>Methode</a:t>
            </a:r>
          </a:p>
          <a:p>
            <a:pPr lvl="1"/>
            <a:r>
              <a:rPr lang="en-GB"/>
              <a:t>White box testen.</a:t>
            </a:r>
          </a:p>
        </p:txBody>
      </p:sp>
    </p:spTree>
    <p:extLst>
      <p:ext uri="{BB962C8B-B14F-4D97-AF65-F5344CB8AC3E}">
        <p14:creationId xmlns:p14="http://schemas.microsoft.com/office/powerpoint/2010/main" val="218397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Alle paren test (All Pairs)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25</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Een voorbeeld is uitgewerkt in een andere presentatie.</a:t>
            </a:r>
          </a:p>
        </p:txBody>
      </p:sp>
      <p:pic>
        <p:nvPicPr>
          <p:cNvPr id="6" name="Picture 5" descr="A picture containing chart&#10;&#10;Description automatically generated">
            <a:extLst>
              <a:ext uri="{FF2B5EF4-FFF2-40B4-BE49-F238E27FC236}">
                <a16:creationId xmlns:a16="http://schemas.microsoft.com/office/drawing/2014/main" id="{B4CFF9E8-DA0A-4668-BCF5-D92D80909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13248"/>
            <a:ext cx="10160000" cy="3193503"/>
          </a:xfrm>
          <a:prstGeom prst="rect">
            <a:avLst/>
          </a:prstGeom>
          <a:ln>
            <a:solidFill>
              <a:schemeClr val="tx1"/>
            </a:solidFill>
          </a:ln>
        </p:spPr>
      </p:pic>
    </p:spTree>
    <p:extLst>
      <p:ext uri="{BB962C8B-B14F-4D97-AF65-F5344CB8AC3E}">
        <p14:creationId xmlns:p14="http://schemas.microsoft.com/office/powerpoint/2010/main" val="31962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13963EC-CB83-4A74-AD17-7E027499DCFE}">
  <ds:schemaRefs>
    <ds:schemaRef ds:uri="http://schemas.microsoft.com/sharepoint/v3/contenttype/forms"/>
  </ds:schemaRefs>
</ds:datastoreItem>
</file>

<file path=customXml/itemProps3.xml><?xml version="1.0" encoding="utf-8"?>
<ds:datastoreItem xmlns:ds="http://schemas.openxmlformats.org/officeDocument/2006/customXml" ds:itemID="{3F776112-665F-4321-8DF2-154B8CFE473B}">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2200</TotalTime>
  <Words>974</Words>
  <Application>Microsoft Office PowerPoint</Application>
  <PresentationFormat>Custom</PresentationFormat>
  <Paragraphs>257</Paragraphs>
  <Slides>25</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SyntraWestBase</vt:lpstr>
      <vt:lpstr>PowerPoint Presentation</vt:lpstr>
      <vt:lpstr>PowerPoint Presentation</vt:lpstr>
      <vt:lpstr>PowerPoint Presentation</vt:lpstr>
      <vt:lpstr>Functionele testen (Functional)</vt:lpstr>
      <vt:lpstr>Functionele IT Black Box testen</vt:lpstr>
      <vt:lpstr>Functionele IT White Box testen</vt:lpstr>
      <vt:lpstr>Niet Functionele testen (Non-Functional)</vt:lpstr>
      <vt:lpstr>Functionele testen  Niet Functionele testen</vt:lpstr>
      <vt:lpstr>Operationele testen (Functioneel en niet functioneel)</vt:lpstr>
      <vt:lpstr>Smoke testen</vt:lpstr>
      <vt:lpstr>Gebruikers gemak test (Usability)</vt:lpstr>
      <vt:lpstr>Beveiligingstest (Security)</vt:lpstr>
      <vt:lpstr>Performantie test (Performance)</vt:lpstr>
      <vt:lpstr>Acceptatie Criteria testen (Type)</vt:lpstr>
      <vt:lpstr>Acceptatie Criteria testen (Type)</vt:lpstr>
      <vt:lpstr>Regressie test (Regression)</vt:lpstr>
      <vt:lpstr>Niet Regressie test (Non-Regression)</vt:lpstr>
      <vt:lpstr>Regressie test  Niet Regressie test</vt:lpstr>
      <vt:lpstr>Conformiteitstest (Compliance test)</vt:lpstr>
      <vt:lpstr>Point to Point (P2P)</vt:lpstr>
      <vt:lpstr>End to End (E2E)</vt:lpstr>
      <vt:lpstr>Kantoordag test (Day at the office)</vt:lpstr>
      <vt:lpstr>Kantoordag test (Day at the office)</vt:lpstr>
      <vt:lpstr>Alle paren test (All Pairs)</vt:lpstr>
      <vt:lpstr>Alle paren test (All Pairs)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368</cp:revision>
  <dcterms:created xsi:type="dcterms:W3CDTF">2020-09-23T07:49:56Z</dcterms:created>
  <dcterms:modified xsi:type="dcterms:W3CDTF">2021-11-25T13:10:55Z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