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70" r:id="rId5"/>
  </p:sldMasterIdLst>
  <p:notesMasterIdLst>
    <p:notesMasterId r:id="rId21"/>
  </p:notesMasterIdLst>
  <p:handoutMasterIdLst>
    <p:handoutMasterId r:id="rId22"/>
  </p:handoutMasterIdLst>
  <p:sldIdLst>
    <p:sldId id="263" r:id="rId6"/>
    <p:sldId id="256" r:id="rId7"/>
    <p:sldId id="264" r:id="rId8"/>
    <p:sldId id="265" r:id="rId9"/>
    <p:sldId id="268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5">
          <p15:clr>
            <a:srgbClr val="A4A3A4"/>
          </p15:clr>
        </p15:guide>
        <p15:guide id="2" pos="30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5B9"/>
    <a:srgbClr val="314B56"/>
    <a:srgbClr val="EBE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39" autoAdjust="0"/>
  </p:normalViewPr>
  <p:slideViewPr>
    <p:cSldViewPr snapToGrid="0" snapToObjects="1" showGuides="1">
      <p:cViewPr varScale="1">
        <p:scale>
          <a:sx n="134" d="100"/>
          <a:sy n="134" d="100"/>
        </p:scale>
        <p:origin x="798" y="126"/>
      </p:cViewPr>
      <p:guideLst>
        <p:guide orient="horz" pos="1345"/>
        <p:guide pos="30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7611E-C10F-8E40-8595-90F19DFB85C7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5F386-FFD1-A849-85B7-3710D5A78D6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334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59AA0-E455-8245-9E35-3725C906E7FD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1AD5C-BC95-3D4C-8325-8946398A22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14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529" y="2767915"/>
            <a:ext cx="2470440" cy="22708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799" y="2037253"/>
            <a:ext cx="7500055" cy="707886"/>
          </a:xfrm>
        </p:spPr>
        <p:txBody>
          <a:bodyPr wrap="square" anchor="b">
            <a:sp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799" y="2802318"/>
            <a:ext cx="5937251" cy="523220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2800" b="1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655484"/>
            <a:ext cx="8234363" cy="369332"/>
          </a:xfrm>
        </p:spPr>
        <p:txBody>
          <a:bodyPr wrap="square" anchor="t">
            <a:spAutoFit/>
          </a:bodyPr>
          <a:lstStyle>
            <a:lvl1pPr marL="0" indent="0">
              <a:buFont typeface="+mj-lt"/>
              <a:buNone/>
              <a:defRPr>
                <a:solidFill>
                  <a:srgbClr val="6AA193"/>
                </a:solidFill>
              </a:defRPr>
            </a:lvl1pPr>
            <a:lvl2pPr marL="800100" indent="-342900">
              <a:buFont typeface="+mj-lt"/>
              <a:buNone/>
              <a:defRPr/>
            </a:lvl2pPr>
            <a:lvl3pPr marL="1257300" indent="-342900">
              <a:buFont typeface="+mj-lt"/>
              <a:buNone/>
              <a:defRPr/>
            </a:lvl3pPr>
            <a:lvl4pPr marL="1714500" indent="-342900">
              <a:buFont typeface="+mj-lt"/>
              <a:buNone/>
              <a:defRPr/>
            </a:lvl4pPr>
            <a:lvl5pPr marL="2171700" indent="-342900">
              <a:buFont typeface="+mj-lt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ullete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20071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4892"/>
            <a:ext cx="3780000" cy="391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655484"/>
            <a:ext cx="8234363" cy="369332"/>
          </a:xfrm>
        </p:spPr>
        <p:txBody>
          <a:bodyPr wrap="square" anchor="t">
            <a:spAutoFit/>
          </a:bodyPr>
          <a:lstStyle>
            <a:lvl1pPr marL="0" indent="0">
              <a:buFont typeface="+mj-lt"/>
              <a:buNone/>
              <a:defRPr>
                <a:solidFill>
                  <a:srgbClr val="6AA193"/>
                </a:solidFill>
              </a:defRPr>
            </a:lvl1pPr>
            <a:lvl2pPr marL="800100" indent="-342900">
              <a:buFont typeface="+mj-lt"/>
              <a:buNone/>
              <a:defRPr/>
            </a:lvl2pPr>
            <a:lvl3pPr marL="1257300" indent="-342900">
              <a:buFont typeface="+mj-lt"/>
              <a:buNone/>
              <a:defRPr/>
            </a:lvl3pPr>
            <a:lvl4pPr marL="1714500" indent="-342900">
              <a:buFont typeface="+mj-lt"/>
              <a:buNone/>
              <a:defRPr/>
            </a:lvl4pPr>
            <a:lvl5pPr marL="2171700" indent="-342900">
              <a:buFont typeface="+mj-lt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4386205" y="1194892"/>
            <a:ext cx="3780000" cy="391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814507"/>
            <a:ext cx="5505450" cy="40859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1" y="1532465"/>
            <a:ext cx="4854574" cy="46166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475" y="4457704"/>
            <a:ext cx="361950" cy="33337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193819"/>
            <a:ext cx="6896276" cy="46166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94892"/>
            <a:ext cx="7677150" cy="391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38461" y="5296959"/>
            <a:ext cx="467078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rgbClr val="639786"/>
                </a:solidFill>
              </a:defRPr>
            </a:lvl1pPr>
          </a:lstStyle>
          <a:p>
            <a:fld id="{83E3A20B-E04C-3542-BD5C-CFE9848EFB9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618" y="4200799"/>
            <a:ext cx="921664" cy="847187"/>
          </a:xfrm>
          <a:prstGeom prst="rect">
            <a:avLst/>
          </a:prstGeom>
          <a:solidFill>
            <a:schemeClr val="accent1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5" r:id="rId3"/>
    <p:sldLayoutId id="2147483673" r:id="rId4"/>
    <p:sldLayoutId id="2147483674" r:id="rId5"/>
    <p:sldLayoutId id="2147483669" r:id="rId6"/>
  </p:sldLayoutIdLst>
  <p:transition spd="slow"/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accent1"/>
          </a:solidFill>
          <a:latin typeface="Aleo"/>
          <a:ea typeface="+mj-ea"/>
          <a:cs typeface="Aleo"/>
        </a:defRPr>
      </a:lvl1pPr>
    </p:titleStyle>
    <p:bodyStyle>
      <a:lvl1pPr marL="342000" indent="-342900" algn="l" defTabSz="457200" rtl="0" eaLnBrk="1" latinLnBrk="0" hangingPunct="1">
        <a:spcBef>
          <a:spcPct val="20000"/>
        </a:spcBef>
        <a:buClr>
          <a:schemeClr val="accent2"/>
        </a:buClr>
        <a:buSzPct val="10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2"/>
        </a:buClr>
        <a:buSzPct val="100000"/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2"/>
        </a:buClr>
        <a:buSzPct val="10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2"/>
        </a:buClr>
        <a:buSzPct val="10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2"/>
        </a:buClr>
        <a:buSzPct val="10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3500" y="-1"/>
            <a:ext cx="7810500" cy="57150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100" dirty="0" err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975" y="96309"/>
            <a:ext cx="56578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758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Communicatieplan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799" y="2802318"/>
            <a:ext cx="5937251" cy="523220"/>
          </a:xfrm>
        </p:spPr>
        <p:txBody>
          <a:bodyPr/>
          <a:lstStyle/>
          <a:p>
            <a:r>
              <a:rPr lang="nl-BE"/>
              <a:t>Opzetten All Pairs Testen</a:t>
            </a:r>
          </a:p>
        </p:txBody>
      </p:sp>
    </p:spTree>
    <p:extLst>
      <p:ext uri="{BB962C8B-B14F-4D97-AF65-F5344CB8AC3E}">
        <p14:creationId xmlns:p14="http://schemas.microsoft.com/office/powerpoint/2010/main" val="131573487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Wil je eerst dit zien?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Ons Project</a:t>
            </a:r>
          </a:p>
          <a:p>
            <a:r>
              <a:rPr lang="nl-BE"/>
              <a:t>Definitielijst</a:t>
            </a:r>
          </a:p>
          <a:p>
            <a:r>
              <a:rPr lang="nl-BE"/>
              <a:t>Incrementeel Iteratief</a:t>
            </a:r>
          </a:p>
          <a:p>
            <a:r>
              <a:rPr lang="nl-BE"/>
              <a:t>Uitschrijven van testen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463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All Pairs Testen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Is een combinatie methode die voor elk paar input parameters (uit een lijst van meerdere) van een systeem alle mogelijke combinaties van die parameters zal uittesten.</a:t>
            </a:r>
            <a:endParaRPr lang="en-US" sz="1800"/>
          </a:p>
          <a:p>
            <a:pPr lvl="1"/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Definitie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/>
              <a:t>Is a combination method of testing that uses every pair of input parameters (out of a list of more) of a system to test all combinations of those parameters.</a:t>
            </a:r>
          </a:p>
        </p:txBody>
      </p:sp>
    </p:spTree>
    <p:extLst>
      <p:ext uri="{BB962C8B-B14F-4D97-AF65-F5344CB8AC3E}">
        <p14:creationId xmlns:p14="http://schemas.microsoft.com/office/powerpoint/2010/main" val="10637570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Gerelateerde definities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Test Conditie</a:t>
            </a:r>
          </a:p>
          <a:p>
            <a:r>
              <a:rPr lang="nl-BE"/>
              <a:t>Test Object</a:t>
            </a:r>
          </a:p>
          <a:p>
            <a:r>
              <a:rPr lang="nl-BE"/>
              <a:t>Test Plan</a:t>
            </a:r>
          </a:p>
          <a:p>
            <a:r>
              <a:rPr lang="nl-BE"/>
              <a:t>Test Run</a:t>
            </a:r>
          </a:p>
          <a:p>
            <a:r>
              <a:rPr lang="nl-BE"/>
              <a:t>Test Scenario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0251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799" y="2037253"/>
            <a:ext cx="7500055" cy="707886"/>
          </a:xfrm>
        </p:spPr>
        <p:txBody>
          <a:bodyPr/>
          <a:lstStyle/>
          <a:p>
            <a:r>
              <a:rPr lang="nl-BE"/>
              <a:t>Gebruik voorbeelden</a:t>
            </a:r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58799" y="2802318"/>
            <a:ext cx="5937251" cy="1040285"/>
          </a:xfrm>
        </p:spPr>
        <p:txBody>
          <a:bodyPr/>
          <a:lstStyle/>
          <a:p>
            <a:r>
              <a:rPr lang="nl-BE"/>
              <a:t>Functie met 3 variabelen</a:t>
            </a:r>
          </a:p>
          <a:p>
            <a:r>
              <a:rPr lang="en-US"/>
              <a:t>All Pairs testen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5297488"/>
            <a:ext cx="466725" cy="303212"/>
          </a:xfrm>
        </p:spPr>
        <p:txBody>
          <a:bodyPr/>
          <a:lstStyle/>
          <a:p>
            <a:fld id="{83E3A20B-E04C-3542-BD5C-CFE9848EFB9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8607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/>
              <a:t>Stel dat in een programma voorzien is om Track, Trace en logging toe te laten</a:t>
            </a:r>
          </a:p>
          <a:p>
            <a:r>
              <a:rPr lang="nl-BE"/>
              <a:t>Output kan 4 verschillende vormen aannemen</a:t>
            </a:r>
          </a:p>
          <a:p>
            <a:pPr lvl="1"/>
            <a:r>
              <a:rPr lang="nl-BE"/>
              <a:t>Variabele OutputType:</a:t>
            </a:r>
          </a:p>
          <a:p>
            <a:pPr lvl="2"/>
            <a:r>
              <a:rPr lang="nl-BE"/>
              <a:t>Geen output (None)</a:t>
            </a:r>
          </a:p>
          <a:p>
            <a:pPr lvl="2"/>
            <a:r>
              <a:rPr lang="nl-BE"/>
              <a:t>Logfile (Log)</a:t>
            </a:r>
          </a:p>
          <a:p>
            <a:pPr lvl="2"/>
            <a:r>
              <a:rPr lang="nl-BE"/>
              <a:t>Bericht op scherm (Screen)</a:t>
            </a:r>
          </a:p>
          <a:p>
            <a:pPr lvl="2"/>
            <a:r>
              <a:rPr lang="nl-BE"/>
              <a:t>Logfile en bericht op scherm (Log+Screen)</a:t>
            </a:r>
          </a:p>
          <a:p>
            <a:pPr lvl="2"/>
            <a:endParaRPr lang="nl-BE"/>
          </a:p>
          <a:p>
            <a:endParaRPr lang="nl-BE"/>
          </a:p>
          <a:p>
            <a:pPr lvl="1"/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Een voorbeeld: Track, Trace, Loggen van een probleem in code</a:t>
            </a:r>
          </a:p>
        </p:txBody>
      </p:sp>
    </p:spTree>
    <p:extLst>
      <p:ext uri="{BB962C8B-B14F-4D97-AF65-F5344CB8AC3E}">
        <p14:creationId xmlns:p14="http://schemas.microsoft.com/office/powerpoint/2010/main" val="395481705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/>
              <a:t>Stel dat in een programma voorzien is om Track, Trace en logging toe te laten</a:t>
            </a:r>
          </a:p>
          <a:p>
            <a:r>
              <a:rPr lang="nl-BE"/>
              <a:t>We hebben 3 mogelijke  opties voor de Stack</a:t>
            </a:r>
          </a:p>
          <a:p>
            <a:pPr lvl="1"/>
            <a:r>
              <a:rPr lang="nl-BE"/>
              <a:t>Een item plaatsen in en halen uit een lijst</a:t>
            </a:r>
          </a:p>
          <a:p>
            <a:pPr lvl="1"/>
            <a:r>
              <a:rPr lang="nl-BE"/>
              <a:t>Variabele StackType</a:t>
            </a:r>
          </a:p>
          <a:p>
            <a:pPr lvl="2"/>
            <a:r>
              <a:rPr lang="nl-BE"/>
              <a:t>Push on Top (PoT)</a:t>
            </a:r>
          </a:p>
          <a:p>
            <a:pPr lvl="2"/>
            <a:r>
              <a:rPr lang="nl-BE"/>
              <a:t>Push at Bottom (PaB)</a:t>
            </a:r>
          </a:p>
          <a:p>
            <a:pPr lvl="2"/>
            <a:r>
              <a:rPr lang="nl-BE"/>
              <a:t>Pop from Top (PfT)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Een voorbeeld: Track, Trace, Loggen van een probleem in code</a:t>
            </a:r>
          </a:p>
        </p:txBody>
      </p:sp>
    </p:spTree>
    <p:extLst>
      <p:ext uri="{BB962C8B-B14F-4D97-AF65-F5344CB8AC3E}">
        <p14:creationId xmlns:p14="http://schemas.microsoft.com/office/powerpoint/2010/main" val="170021603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/>
              <a:t>Stel dat in een programma voorzien is om Track, Trace en logging toe te laten</a:t>
            </a:r>
          </a:p>
          <a:p>
            <a:r>
              <a:rPr lang="nl-BE"/>
              <a:t>We hebben 4 mogelijke  opties het niveau (level) van trace</a:t>
            </a:r>
          </a:p>
          <a:p>
            <a:pPr lvl="1"/>
            <a:r>
              <a:rPr lang="nl-BE"/>
              <a:t>Variabele TraceLevel</a:t>
            </a:r>
          </a:p>
          <a:p>
            <a:pPr lvl="2"/>
            <a:r>
              <a:rPr lang="nl-BE"/>
              <a:t>Off (Off)</a:t>
            </a:r>
          </a:p>
          <a:p>
            <a:pPr lvl="2"/>
            <a:r>
              <a:rPr lang="nl-BE"/>
              <a:t>Minimum (Min)</a:t>
            </a:r>
          </a:p>
          <a:p>
            <a:pPr lvl="2"/>
            <a:r>
              <a:rPr lang="nl-BE"/>
              <a:t>Normal (Nrml)</a:t>
            </a:r>
          </a:p>
          <a:p>
            <a:pPr lvl="2"/>
            <a:r>
              <a:rPr lang="nl-BE"/>
              <a:t>Maximum (Max)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Een voorbeeld: Track, Trace, Loggen van een probleem in code</a:t>
            </a:r>
          </a:p>
        </p:txBody>
      </p:sp>
    </p:spTree>
    <p:extLst>
      <p:ext uri="{BB962C8B-B14F-4D97-AF65-F5344CB8AC3E}">
        <p14:creationId xmlns:p14="http://schemas.microsoft.com/office/powerpoint/2010/main" val="1059026357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/>
              <a:t>Stel dat in een programma voorzien is om Track, Trace en logging toe te laten</a:t>
            </a:r>
          </a:p>
          <a:p>
            <a:r>
              <a:rPr lang="nl-BE"/>
              <a:t>Samenvatting</a:t>
            </a:r>
          </a:p>
          <a:p>
            <a:pPr lvl="1"/>
            <a:r>
              <a:rPr lang="nl-BE"/>
              <a:t>Variabele OutputType:</a:t>
            </a:r>
          </a:p>
          <a:p>
            <a:pPr lvl="2"/>
            <a:r>
              <a:rPr lang="nl-BE"/>
              <a:t>4 opties</a:t>
            </a:r>
          </a:p>
          <a:p>
            <a:pPr lvl="1"/>
            <a:r>
              <a:rPr lang="nl-BE"/>
              <a:t>Variabele StackType</a:t>
            </a:r>
          </a:p>
          <a:p>
            <a:pPr lvl="2"/>
            <a:r>
              <a:rPr lang="nl-BE"/>
              <a:t>3 opties</a:t>
            </a:r>
          </a:p>
          <a:p>
            <a:pPr lvl="1"/>
            <a:r>
              <a:rPr lang="nl-BE"/>
              <a:t>Variabele TraceLevel</a:t>
            </a:r>
          </a:p>
          <a:p>
            <a:pPr lvl="2"/>
            <a:r>
              <a:rPr lang="nl-BE"/>
              <a:t>4 opties</a:t>
            </a:r>
          </a:p>
          <a:p>
            <a:pPr lvl="2"/>
            <a:endParaRPr lang="nl-BE"/>
          </a:p>
          <a:p>
            <a:r>
              <a:rPr lang="nl-BE"/>
              <a:t>Indien je alle combinaties wilt testen, heb je 48 verschillende testen nodig.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Een voorbeeld: Track, Trace, Loggen van een probleem in code</a:t>
            </a:r>
          </a:p>
        </p:txBody>
      </p:sp>
    </p:spTree>
    <p:extLst>
      <p:ext uri="{BB962C8B-B14F-4D97-AF65-F5344CB8AC3E}">
        <p14:creationId xmlns:p14="http://schemas.microsoft.com/office/powerpoint/2010/main" val="374878958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Alle mogelijkheden</a:t>
            </a:r>
          </a:p>
        </p:txBody>
      </p:sp>
      <p:pic>
        <p:nvPicPr>
          <p:cNvPr id="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64" y="1195388"/>
            <a:ext cx="4182621" cy="3910012"/>
          </a:xfrm>
        </p:spPr>
      </p:pic>
    </p:spTree>
    <p:extLst>
      <p:ext uri="{BB962C8B-B14F-4D97-AF65-F5344CB8AC3E}">
        <p14:creationId xmlns:p14="http://schemas.microsoft.com/office/powerpoint/2010/main" val="1627084792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Alle paren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273" y="1249891"/>
            <a:ext cx="2353004" cy="3801006"/>
          </a:xfrm>
        </p:spPr>
      </p:pic>
    </p:spTree>
    <p:extLst>
      <p:ext uri="{BB962C8B-B14F-4D97-AF65-F5344CB8AC3E}">
        <p14:creationId xmlns:p14="http://schemas.microsoft.com/office/powerpoint/2010/main" val="1581236809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655484"/>
            <a:ext cx="8234363" cy="701731"/>
          </a:xfrm>
        </p:spPr>
        <p:txBody>
          <a:bodyPr/>
          <a:lstStyle/>
          <a:p>
            <a:r>
              <a:rPr lang="nl-BE"/>
              <a:t>Subset van alle mogelijkheden om alle paren te hebben</a:t>
            </a:r>
          </a:p>
          <a:p>
            <a:r>
              <a:rPr lang="nl-BE"/>
              <a:t>Minimum 16 (4 * 4)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668" y="1497575"/>
            <a:ext cx="2610214" cy="3305637"/>
          </a:xfrm>
        </p:spPr>
      </p:pic>
    </p:spTree>
    <p:extLst>
      <p:ext uri="{BB962C8B-B14F-4D97-AF65-F5344CB8AC3E}">
        <p14:creationId xmlns:p14="http://schemas.microsoft.com/office/powerpoint/2010/main" val="1580073492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/>
              <a:t>Stel dat je in een programma voorziet om een cel een layout te geven</a:t>
            </a:r>
          </a:p>
          <a:p>
            <a:r>
              <a:rPr lang="nl-BE"/>
              <a:t>Samenvatting</a:t>
            </a:r>
          </a:p>
          <a:p>
            <a:pPr lvl="1"/>
            <a:r>
              <a:rPr lang="nl-BE"/>
              <a:t>Variabele Kleur achtergrond:</a:t>
            </a:r>
          </a:p>
          <a:p>
            <a:pPr lvl="2"/>
            <a:r>
              <a:rPr lang="nl-BE"/>
              <a:t>3 opties: Rood, Groen of Geel</a:t>
            </a:r>
          </a:p>
          <a:p>
            <a:pPr lvl="1"/>
            <a:r>
              <a:rPr lang="nl-BE"/>
              <a:t>Variabele Randen</a:t>
            </a:r>
          </a:p>
          <a:p>
            <a:pPr lvl="2"/>
            <a:r>
              <a:rPr lang="nl-BE"/>
              <a:t>4 opties: Vet, Fijn, Dubbel of Stippel </a:t>
            </a:r>
          </a:p>
          <a:p>
            <a:pPr lvl="1"/>
            <a:r>
              <a:rPr lang="nl-BE"/>
              <a:t>Variabele Kleur voorgrond</a:t>
            </a:r>
          </a:p>
          <a:p>
            <a:pPr lvl="2"/>
            <a:r>
              <a:rPr lang="nl-BE"/>
              <a:t>2 opties: Zwart, Blauw</a:t>
            </a:r>
          </a:p>
          <a:p>
            <a:r>
              <a:rPr lang="nl-BE"/>
              <a:t>Indien je alle combinaties wilt testen, heb je 24 verschillende testen nodig.</a:t>
            </a:r>
          </a:p>
          <a:p>
            <a:r>
              <a:rPr lang="nl-BE"/>
              <a:t>Indien je per koppel wilt testen, heb je er 12 nodig.</a:t>
            </a:r>
          </a:p>
          <a:p>
            <a:r>
              <a:rPr lang="nl-BE"/>
              <a:t>Indien je enkel per variabele wilt testen, heb je er 9 nodig.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Een voorbeeld: Opmaak van een cel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539" y="2019218"/>
            <a:ext cx="3873606" cy="150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61329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Opzetten All Pairs Test voorbeeld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A20B-E04C-3542-BD5C-CFE9848EFB9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655484"/>
            <a:ext cx="8234363" cy="701731"/>
          </a:xfrm>
        </p:spPr>
        <p:txBody>
          <a:bodyPr/>
          <a:lstStyle/>
          <a:p>
            <a:r>
              <a:rPr lang="nl-BE"/>
              <a:t>Subset van alle mogelijkheden om alle paren te hebben</a:t>
            </a:r>
          </a:p>
          <a:p>
            <a:r>
              <a:rPr lang="nl-BE"/>
              <a:t>Minimum 12 (3 * 4)</a:t>
            </a:r>
          </a:p>
        </p:txBody>
      </p:sp>
      <p:pic>
        <p:nvPicPr>
          <p:cNvPr id="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59" y="1195388"/>
            <a:ext cx="2420031" cy="3910012"/>
          </a:xfrm>
        </p:spPr>
      </p:pic>
    </p:spTree>
    <p:extLst>
      <p:ext uri="{BB962C8B-B14F-4D97-AF65-F5344CB8AC3E}">
        <p14:creationId xmlns:p14="http://schemas.microsoft.com/office/powerpoint/2010/main" val="277907846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ADMB Blanco">
  <a:themeElements>
    <a:clrScheme name="ADMB">
      <a:dk1>
        <a:srgbClr val="365566"/>
      </a:dk1>
      <a:lt1>
        <a:sysClr val="window" lastClr="FFFFFF"/>
      </a:lt1>
      <a:dk2>
        <a:srgbClr val="1F497D"/>
      </a:dk2>
      <a:lt2>
        <a:srgbClr val="EBE5C1"/>
      </a:lt2>
      <a:accent1>
        <a:srgbClr val="00633E"/>
      </a:accent1>
      <a:accent2>
        <a:srgbClr val="EF7D26"/>
      </a:accent2>
      <a:accent3>
        <a:srgbClr val="6AA193"/>
      </a:accent3>
      <a:accent4>
        <a:srgbClr val="5F6890"/>
      </a:accent4>
      <a:accent5>
        <a:srgbClr val="B43731"/>
      </a:accent5>
      <a:accent6>
        <a:srgbClr val="CDE5B9"/>
      </a:accent6>
      <a:hlink>
        <a:srgbClr val="E47733"/>
      </a:hlink>
      <a:folHlink>
        <a:srgbClr val="6A3D1D"/>
      </a:folHlink>
    </a:clrScheme>
    <a:fontScheme name="Ver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sz="1100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q_ProjectNaam xmlns="5f332776-49b5-4493-987e-bb7fec5c4833" xsi:nil="true"/>
    <loq_Projectnummer xmlns="5f332776-49b5-4493-987e-bb7fec5c4833" xsi:nil="true"/>
    <_dlc_DocId xmlns="5f332776-49b5-4493-987e-bb7fec5c4833">ADMBPMO-371424420-311</_dlc_DocId>
    <_dlc_DocIdUrl xmlns="5f332776-49b5-4493-987e-bb7fec5c4833">
      <Url>https://admb.sharepoint.com/sites/PMO/Projecten/PR-2016-56/_layouts/15/DocIdRedir.aspx?ID=ADMBPMO-371424420-311</Url>
      <Description>ADMBPMO-371424420-311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ojectdocument" ma:contentTypeID="0x01010043D4517E86194953B1AF726B18A763BB00D04317E5C792D64AB17192FC6E6DA2C8" ma:contentTypeVersion="18" ma:contentTypeDescription="" ma:contentTypeScope="" ma:versionID="570a8fc65b748cc88442575d5e9de87b">
  <xsd:schema xmlns:xsd="http://www.w3.org/2001/XMLSchema" xmlns:xs="http://www.w3.org/2001/XMLSchema" xmlns:p="http://schemas.microsoft.com/office/2006/metadata/properties" xmlns:ns2="5f332776-49b5-4493-987e-bb7fec5c4833" xmlns:ns3="f908b97e-4a31-42f1-bac7-67a67fdc583f" targetNamespace="http://schemas.microsoft.com/office/2006/metadata/properties" ma:root="true" ma:fieldsID="5de1a1b394c44b4a6f8cab0139047336" ns2:_="" ns3:_="">
    <xsd:import namespace="5f332776-49b5-4493-987e-bb7fec5c4833"/>
    <xsd:import namespace="f908b97e-4a31-42f1-bac7-67a67fdc583f"/>
    <xsd:element name="properties">
      <xsd:complexType>
        <xsd:sequence>
          <xsd:element name="documentManagement">
            <xsd:complexType>
              <xsd:all>
                <xsd:element ref="ns2:loq_Projectnummer" minOccurs="0"/>
                <xsd:element ref="ns2:loq_ProjectNaam" minOccurs="0"/>
                <xsd:element ref="ns2:SharedWithUsers" minOccurs="0"/>
                <xsd:element ref="ns2:SharedWithDetails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332776-49b5-4493-987e-bb7fec5c4833" elementFormDefault="qualified">
    <xsd:import namespace="http://schemas.microsoft.com/office/2006/documentManagement/types"/>
    <xsd:import namespace="http://schemas.microsoft.com/office/infopath/2007/PartnerControls"/>
    <xsd:element name="loq_Projectnummer" ma:index="8" nillable="true" ma:displayName="Projectnummer" ma:internalName="loq_Projectnummer" ma:readOnly="false">
      <xsd:simpleType>
        <xsd:restriction base="dms:Text"/>
      </xsd:simpleType>
    </xsd:element>
    <xsd:element name="loq_ProjectNaam" ma:index="9" nillable="true" ma:displayName="Projectnaam" ma:internalName="loq_ProjectNaam" ma:readOnly="false">
      <xsd:simpleType>
        <xsd:restriction base="dms:Text">
          <xsd:maxLength value="255"/>
        </xsd:restriction>
      </xsd:simpleType>
    </xsd:element>
    <xsd:element name="SharedWithUsers" ma:index="10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_dlc_DocId" ma:index="12" nillable="true" ma:displayName="Waarde van de document-id" ma:description="De waarde van de document-id die aan dit item is toegewezen." ma:internalName="_dlc_DocId" ma:readOnly="true">
      <xsd:simpleType>
        <xsd:restriction base="dms:Text"/>
      </xsd:simpleType>
    </xsd:element>
    <xsd:element name="_dlc_DocIdUrl" ma:index="13" nillable="true" ma:displayName="Document-id" ma:description="Permanente koppeling naar dit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4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8b97e-4a31-42f1-bac7-67a67fdc58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A28C8B-2D39-4103-8D6B-4F4147D2C9F7}">
  <ds:schemaRefs>
    <ds:schemaRef ds:uri="5f332776-49b5-4493-987e-bb7fec5c4833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7D71ACB-84EE-4A93-8A7B-081D8DD638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332776-49b5-4493-987e-bb7fec5c4833"/>
    <ds:schemaRef ds:uri="f908b97e-4a31-42f1-bac7-67a67fdc58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F0B10-A0B5-444D-AC90-1100366B77B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AA4006D-6124-4E47-8ABA-192AA7D465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User%20Story%20-%20Use%20Case%20Result</Template>
  <TotalTime>0</TotalTime>
  <Words>550</Words>
  <Application>Microsoft Office PowerPoint</Application>
  <PresentationFormat>On-screen Show (16:10)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Aleo</vt:lpstr>
      <vt:lpstr>Arial</vt:lpstr>
      <vt:lpstr>Calibri</vt:lpstr>
      <vt:lpstr>Century Gothic</vt:lpstr>
      <vt:lpstr>ADMB Blanco</vt:lpstr>
      <vt:lpstr>PowerPoint Presentation</vt:lpstr>
      <vt:lpstr>Communicatieplan</vt:lpstr>
      <vt:lpstr>Wil je eerst dit zien?</vt:lpstr>
      <vt:lpstr>All Pairs Testen</vt:lpstr>
      <vt:lpstr>Gerelateerde definities</vt:lpstr>
      <vt:lpstr>Gebruik voorbeelden</vt:lpstr>
      <vt:lpstr>Opzetten All Pairs Test voorbeeld 1</vt:lpstr>
      <vt:lpstr>Opzetten All Pairs Test voorbeeld 1</vt:lpstr>
      <vt:lpstr>Opzetten All Pairs Test voorbeeld 1</vt:lpstr>
      <vt:lpstr>Opzetten All Pairs Test voorbeeld 1</vt:lpstr>
      <vt:lpstr>Opzetten All Pairs Test voorbeeld 1</vt:lpstr>
      <vt:lpstr>Opzetten All Pairs Test voorbeeld 1</vt:lpstr>
      <vt:lpstr>Opzetten All Pairs Test voorbeeld 1</vt:lpstr>
      <vt:lpstr>Opzetten All Pairs Test voorbeeld 2</vt:lpstr>
      <vt:lpstr>Opzetten All Pairs Test voorbeeld 2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2017-01-11T14:15:09Z</dcterms:created>
  <dcterms:modified xsi:type="dcterms:W3CDTF">2020-11-02T11:40:34Z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0x01010043D4517E86194953B1AF726B18A763BB00D04317E5C792D64AB17192FC6E6DA2C8</vt:lpwstr>
  </property>
  <property fmtid="{D5CDD505-2E9C-101B-9397-08002B2CF9AE}" pid="3" name="_dlc_DocIdItemGuid">
    <vt:lpwstr>c3520700-eae5-473d-ba73-ddbdadfad4cb</vt:lpwstr>
  </property>
</Properties>
</file>