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792" r:id="rId5"/>
    <p:sldId id="793" r:id="rId6"/>
    <p:sldId id="798" r:id="rId7"/>
    <p:sldId id="799" r:id="rId8"/>
    <p:sldId id="800" r:id="rId9"/>
    <p:sldId id="801" r:id="rId10"/>
    <p:sldId id="803" r:id="rId11"/>
    <p:sldId id="805" r:id="rId12"/>
    <p:sldId id="802" r:id="rId13"/>
    <p:sldId id="806" r:id="rId14"/>
    <p:sldId id="804" r:id="rId15"/>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5" autoAdjust="0"/>
    <p:restoredTop sz="86158" autoAdjust="0"/>
  </p:normalViewPr>
  <p:slideViewPr>
    <p:cSldViewPr>
      <p:cViewPr varScale="1">
        <p:scale>
          <a:sx n="60" d="100"/>
          <a:sy n="60" d="100"/>
        </p:scale>
        <p:origin x="1320" y="7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8/10/2020</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en-US" dirty="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 Een verwijzing naar de bron en auteur wordt gewaardeerd.</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algn="l" defTabSz="914400"/>
            <a:r>
              <a:rPr lang="nl-NL" sz="1800">
                <a:solidFill>
                  <a:srgbClr val="034EA2"/>
                </a:solidFill>
              </a:rPr>
              <a:t>Hoofdtitel: Software Testen</a:t>
            </a:r>
            <a:br>
              <a:rPr lang="nl-NL" sz="1800">
                <a:solidFill>
                  <a:srgbClr val="034EA2"/>
                </a:solidFill>
              </a:rPr>
            </a:br>
            <a:r>
              <a:rPr lang="nl-NL" sz="1800">
                <a:solidFill>
                  <a:srgbClr val="034EA2"/>
                </a:solidFill>
              </a:rPr>
              <a:t>Subtitel: Grondbeginselen / Basis principes</a:t>
            </a:r>
            <a:br>
              <a:rPr lang="nl-NL" sz="1800">
                <a:solidFill>
                  <a:srgbClr val="034EA2"/>
                </a:solidFill>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Software Development Life Cycle</a:t>
            </a:r>
          </a:p>
          <a:p>
            <a:pPr lvl="1"/>
            <a:r>
              <a:rPr lang="en-GB"/>
              <a:t>SDLC</a:t>
            </a:r>
          </a:p>
          <a:p>
            <a:pPr lvl="1"/>
            <a:r>
              <a:rPr lang="en-GB"/>
              <a:t>Stappen in het maken van de software</a:t>
            </a:r>
          </a:p>
          <a:p>
            <a:pPr lvl="1"/>
            <a:endParaRPr lang="en-GB"/>
          </a:p>
          <a:p>
            <a:pPr marL="457200" indent="-457200">
              <a:buFont typeface="+mj-lt"/>
              <a:buAutoNum type="arabicPeriod"/>
            </a:pPr>
            <a:r>
              <a:rPr lang="en-GB"/>
              <a:t>Plannen</a:t>
            </a:r>
          </a:p>
          <a:p>
            <a:pPr lvl="1"/>
            <a:r>
              <a:rPr lang="en-GB"/>
              <a:t>Wat wil je doen?</a:t>
            </a:r>
          </a:p>
          <a:p>
            <a:pPr marL="457200" indent="-457200">
              <a:buFont typeface="+mj-lt"/>
              <a:buAutoNum type="arabicPeriod"/>
            </a:pPr>
            <a:r>
              <a:rPr lang="en-GB"/>
              <a:t>Analyseren</a:t>
            </a:r>
          </a:p>
          <a:p>
            <a:pPr lvl="1"/>
            <a:r>
              <a:rPr lang="en-GB"/>
              <a:t>Hoe wil je het doen?</a:t>
            </a:r>
          </a:p>
          <a:p>
            <a:pPr marL="457200" indent="-457200">
              <a:buFont typeface="+mj-lt"/>
              <a:buAutoNum type="arabicPeriod"/>
            </a:pPr>
            <a:r>
              <a:rPr lang="en-GB"/>
              <a:t>Ontwerpen</a:t>
            </a:r>
          </a:p>
          <a:p>
            <a:pPr lvl="1"/>
            <a:r>
              <a:rPr lang="en-GB"/>
              <a:t>Hoe ga je het technisch oplossen?</a:t>
            </a:r>
          </a:p>
          <a:p>
            <a:pPr marL="457200" indent="-457200">
              <a:buFont typeface="+mj-lt"/>
              <a:buAutoNum type="arabicPeriod"/>
            </a:pPr>
            <a:r>
              <a:rPr lang="en-GB"/>
              <a:t>Implementeren</a:t>
            </a:r>
          </a:p>
          <a:p>
            <a:pPr lvl="1"/>
            <a:r>
              <a:rPr lang="en-GB"/>
              <a:t>Technische uitvoering</a:t>
            </a:r>
          </a:p>
          <a:p>
            <a:pPr marL="457200" indent="-457200">
              <a:buFont typeface="+mj-lt"/>
              <a:buAutoNum type="arabicPeriod"/>
            </a:pPr>
            <a:r>
              <a:rPr lang="en-GB"/>
              <a:t>Testen en Integreren</a:t>
            </a:r>
          </a:p>
          <a:p>
            <a:pPr lvl="1"/>
            <a:r>
              <a:rPr lang="en-GB"/>
              <a:t>Checken op correctheid en samenwerking met andere …</a:t>
            </a:r>
          </a:p>
          <a:p>
            <a:pPr marL="457200" indent="-457200">
              <a:buFont typeface="+mj-lt"/>
              <a:buAutoNum type="arabicPeriod"/>
            </a:pPr>
            <a:r>
              <a:rPr lang="en-GB"/>
              <a:t>Onderhoud</a:t>
            </a:r>
          </a:p>
          <a:p>
            <a:pPr lvl="1"/>
            <a:r>
              <a:rPr lang="en-GB"/>
              <a:t>Hou het draaiende (keep it running)</a:t>
            </a:r>
          </a:p>
          <a:p>
            <a:pPr lvl="1"/>
            <a:endParaRPr lang="en-GB"/>
          </a:p>
          <a:p>
            <a:pPr lvl="1"/>
            <a:endParaRPr lang="en-GB"/>
          </a:p>
          <a:p>
            <a:endParaRPr lang="en-GB"/>
          </a:p>
          <a:p>
            <a:pPr lvl="1"/>
            <a:endParaRPr lang="en-GB"/>
          </a:p>
          <a:p>
            <a:endParaRPr lang="en-US"/>
          </a:p>
        </p:txBody>
      </p:sp>
      <p:sp>
        <p:nvSpPr>
          <p:cNvPr id="5" name="Content Placeholder 2">
            <a:extLst>
              <a:ext uri="{FF2B5EF4-FFF2-40B4-BE49-F238E27FC236}">
                <a16:creationId xmlns:a16="http://schemas.microsoft.com/office/drawing/2014/main" id="{661C4D84-9F2B-47A8-911B-9B4D82F064D4}"/>
              </a:ext>
            </a:extLst>
          </p:cNvPr>
          <p:cNvSpPr txBox="1">
            <a:spLocks/>
          </p:cNvSpPr>
          <p:nvPr/>
        </p:nvSpPr>
        <p:spPr>
          <a:xfrm>
            <a:off x="5224016" y="1433513"/>
            <a:ext cx="4360168" cy="5184775"/>
          </a:xfrm>
          <a:prstGeom prst="rect">
            <a:avLst/>
          </a:prstGeom>
        </p:spPr>
        <p:txBody>
          <a:bodyPr/>
          <a:lstStyle>
            <a:lvl1pPr marL="285750" indent="-285750" algn="l" eaLnBrk="1" hangingPunct="1">
              <a:buFont typeface="Arial" panose="020B0604020202020204" pitchFamily="34" charset="0"/>
              <a:buChar char="•"/>
              <a:defRPr sz="1800" b="1" i="0" cap="all">
                <a:solidFill>
                  <a:schemeClr val="tx1"/>
                </a:solidFill>
                <a:latin typeface="+mj-lt"/>
                <a:ea typeface="+mn-ea"/>
                <a:cs typeface="+mn-cs"/>
              </a:defRPr>
            </a:lvl1pPr>
            <a:lvl2pPr marL="742950" indent="-285750" eaLnBrk="1" hangingPunct="1">
              <a:buFont typeface="Arial" panose="020B0604020202020204" pitchFamily="34" charset="0"/>
              <a:buChar char="•"/>
              <a:defRPr sz="1800">
                <a:solidFill>
                  <a:schemeClr val="tx1"/>
                </a:solidFill>
                <a:latin typeface="+mj-lt"/>
                <a:ea typeface="+mn-ea"/>
                <a:cs typeface="+mn-cs"/>
              </a:defRPr>
            </a:lvl2pPr>
            <a:lvl3pPr marL="1200150" indent="-285750" eaLnBrk="1" hangingPunct="1">
              <a:buFont typeface="Arial" panose="020B0604020202020204" pitchFamily="34" charset="0"/>
              <a:buChar char="•"/>
              <a:defRPr sz="1800">
                <a:solidFill>
                  <a:schemeClr val="tx1"/>
                </a:solidFill>
                <a:latin typeface="+mj-lt"/>
                <a:ea typeface="+mn-ea"/>
                <a:cs typeface="+mn-cs"/>
              </a:defRPr>
            </a:lvl3pPr>
            <a:lvl4pPr marL="1657350" indent="-285750" eaLnBrk="1" hangingPunct="1">
              <a:buFont typeface="Arial" panose="020B0604020202020204" pitchFamily="34" charset="0"/>
              <a:buChar char="•"/>
              <a:defRPr sz="1800">
                <a:solidFill>
                  <a:schemeClr val="tx1"/>
                </a:solidFill>
                <a:latin typeface="+mj-lt"/>
                <a:ea typeface="+mn-ea"/>
                <a:cs typeface="+mn-cs"/>
              </a:defRPr>
            </a:lvl4pPr>
            <a:lvl5pPr marL="2114550" indent="-285750" eaLnBrk="1" hangingPunct="1">
              <a:buFont typeface="Arial" panose="020B0604020202020204" pitchFamily="34" charset="0"/>
              <a:buChar char="•"/>
              <a:defRPr sz="1800">
                <a:solidFill>
                  <a:schemeClr val="tx1"/>
                </a:solidFill>
                <a:latin typeface="+mj-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defTabSz="914400"/>
            <a:r>
              <a:rPr lang="en-GB" sz="2400" cap="small"/>
              <a:t>Een hoop voorbeelden</a:t>
            </a:r>
            <a:endParaRPr lang="en-GB" kern="0"/>
          </a:p>
          <a:p>
            <a:pPr lvl="1" defTabSz="914400"/>
            <a:endParaRPr lang="en-GB" kern="0"/>
          </a:p>
          <a:p>
            <a:pPr lvl="1" defTabSz="914400"/>
            <a:endParaRPr lang="en-GB" kern="0"/>
          </a:p>
          <a:p>
            <a:pPr lvl="1" defTabSz="914400"/>
            <a:endParaRPr lang="en-GB" kern="0"/>
          </a:p>
          <a:p>
            <a:pPr defTabSz="914400"/>
            <a:endParaRPr lang="en-GB" kern="0"/>
          </a:p>
          <a:p>
            <a:pPr lvl="1" defTabSz="914400"/>
            <a:endParaRPr lang="en-US" kern="0"/>
          </a:p>
        </p:txBody>
      </p:sp>
      <p:pic>
        <p:nvPicPr>
          <p:cNvPr id="9" name="Picture 8">
            <a:extLst>
              <a:ext uri="{FF2B5EF4-FFF2-40B4-BE49-F238E27FC236}">
                <a16:creationId xmlns:a16="http://schemas.microsoft.com/office/drawing/2014/main" id="{75A71811-E212-46D1-B74B-276BACF2F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0040" y="2063390"/>
            <a:ext cx="4434751" cy="4536504"/>
          </a:xfrm>
          <a:prstGeom prst="rect">
            <a:avLst/>
          </a:prstGeom>
        </p:spPr>
      </p:pic>
    </p:spTree>
    <p:extLst>
      <p:ext uri="{BB962C8B-B14F-4D97-AF65-F5344CB8AC3E}">
        <p14:creationId xmlns:p14="http://schemas.microsoft.com/office/powerpoint/2010/main" val="1355641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Software Development Life Cycle</a:t>
            </a:r>
          </a:p>
          <a:p>
            <a:pPr lvl="1"/>
            <a:r>
              <a:rPr lang="en-GB"/>
              <a:t>SDLC</a:t>
            </a:r>
          </a:p>
          <a:p>
            <a:pPr lvl="1"/>
            <a:r>
              <a:rPr lang="en-GB"/>
              <a:t>Stappen in het maken van de software</a:t>
            </a:r>
          </a:p>
          <a:p>
            <a:pPr lvl="1"/>
            <a:endParaRPr lang="en-GB"/>
          </a:p>
          <a:p>
            <a:r>
              <a:rPr lang="en-GB"/>
              <a:t>Een aantal methodologieën</a:t>
            </a:r>
          </a:p>
          <a:p>
            <a:pPr lvl="1"/>
            <a:endParaRPr lang="en-GB"/>
          </a:p>
          <a:p>
            <a:pPr marL="457200" indent="-457200">
              <a:buFont typeface="+mj-lt"/>
              <a:buAutoNum type="arabicPeriod"/>
            </a:pPr>
            <a:r>
              <a:rPr lang="en-GB"/>
              <a:t>Waterval model</a:t>
            </a:r>
          </a:p>
          <a:p>
            <a:pPr marL="457200" indent="-457200">
              <a:buFont typeface="+mj-lt"/>
              <a:buAutoNum type="arabicPeriod"/>
            </a:pPr>
            <a:r>
              <a:rPr lang="en-GB"/>
              <a:t>V-model</a:t>
            </a:r>
          </a:p>
          <a:p>
            <a:pPr marL="457200" indent="-457200">
              <a:buFont typeface="+mj-lt"/>
              <a:buAutoNum type="arabicPeriod"/>
            </a:pPr>
            <a:r>
              <a:rPr lang="en-GB"/>
              <a:t>Iteratief model</a:t>
            </a:r>
          </a:p>
          <a:p>
            <a:pPr marL="457200" lvl="1" indent="0">
              <a:buNone/>
            </a:pPr>
            <a:r>
              <a:rPr lang="en-GB"/>
              <a:t>Iteratief</a:t>
            </a:r>
          </a:p>
          <a:p>
            <a:pPr marL="457200" indent="-457200">
              <a:buFont typeface="+mj-lt"/>
              <a:buAutoNum type="arabicPeriod"/>
            </a:pPr>
            <a:r>
              <a:rPr lang="en-GB"/>
              <a:t>Spiraal model</a:t>
            </a:r>
          </a:p>
          <a:p>
            <a:pPr marL="457200" lvl="1" indent="0">
              <a:buNone/>
            </a:pPr>
            <a:r>
              <a:rPr lang="en-GB"/>
              <a:t>Incrementeel</a:t>
            </a:r>
          </a:p>
          <a:p>
            <a:pPr marL="457200" indent="-457200">
              <a:buFont typeface="+mj-lt"/>
              <a:buAutoNum type="arabicPeriod"/>
            </a:pPr>
            <a:r>
              <a:rPr lang="en-GB"/>
              <a:t>Agile / Scrum</a:t>
            </a:r>
          </a:p>
          <a:p>
            <a:pPr marL="457200" lvl="1" indent="0">
              <a:buNone/>
            </a:pPr>
            <a:r>
              <a:rPr lang="en-GB"/>
              <a:t>Incrementeel iteratief</a:t>
            </a:r>
          </a:p>
          <a:p>
            <a:pPr marL="457200" indent="-457200">
              <a:buFont typeface="+mj-lt"/>
              <a:buAutoNum type="arabicPeriod"/>
            </a:pPr>
            <a:r>
              <a:rPr lang="en-GB"/>
              <a:t>DevOps</a:t>
            </a:r>
          </a:p>
          <a:p>
            <a:pPr marL="457200" lvl="1" indent="0">
              <a:buNone/>
            </a:pPr>
            <a:r>
              <a:rPr lang="en-GB"/>
              <a:t>Het realiseren van incrementeel iteratief</a:t>
            </a:r>
          </a:p>
          <a:p>
            <a:pPr marL="457200" indent="-457200">
              <a:buFont typeface="+mj-lt"/>
              <a:buAutoNum type="arabicPeriod"/>
            </a:pPr>
            <a:endParaRPr lang="en-GB"/>
          </a:p>
          <a:p>
            <a:pPr marL="914400" lvl="1" indent="-457200">
              <a:buFont typeface="+mj-lt"/>
              <a:buAutoNum type="arabicPeriod"/>
            </a:pPr>
            <a:endParaRPr lang="en-GB"/>
          </a:p>
          <a:p>
            <a:pPr lvl="1"/>
            <a:endParaRPr lang="en-GB"/>
          </a:p>
          <a:p>
            <a:endParaRPr lang="en-GB"/>
          </a:p>
          <a:p>
            <a:pPr lvl="1"/>
            <a:endParaRPr lang="en-GB"/>
          </a:p>
          <a:p>
            <a:endParaRPr lang="en-US"/>
          </a:p>
        </p:txBody>
      </p:sp>
      <p:sp>
        <p:nvSpPr>
          <p:cNvPr id="5" name="Content Placeholder 2">
            <a:extLst>
              <a:ext uri="{FF2B5EF4-FFF2-40B4-BE49-F238E27FC236}">
                <a16:creationId xmlns:a16="http://schemas.microsoft.com/office/drawing/2014/main" id="{661C4D84-9F2B-47A8-911B-9B4D82F064D4}"/>
              </a:ext>
            </a:extLst>
          </p:cNvPr>
          <p:cNvSpPr txBox="1">
            <a:spLocks/>
          </p:cNvSpPr>
          <p:nvPr/>
        </p:nvSpPr>
        <p:spPr>
          <a:xfrm>
            <a:off x="5224016" y="1433513"/>
            <a:ext cx="4360168" cy="5184775"/>
          </a:xfrm>
          <a:prstGeom prst="rect">
            <a:avLst/>
          </a:prstGeom>
        </p:spPr>
        <p:txBody>
          <a:bodyPr/>
          <a:lstStyle>
            <a:lvl1pPr marL="285750" indent="-285750" algn="l" eaLnBrk="1" hangingPunct="1">
              <a:buFont typeface="Arial" panose="020B0604020202020204" pitchFamily="34" charset="0"/>
              <a:buChar char="•"/>
              <a:defRPr sz="1800" b="1" i="0" cap="all">
                <a:solidFill>
                  <a:schemeClr val="tx1"/>
                </a:solidFill>
                <a:latin typeface="+mj-lt"/>
                <a:ea typeface="+mn-ea"/>
                <a:cs typeface="+mn-cs"/>
              </a:defRPr>
            </a:lvl1pPr>
            <a:lvl2pPr marL="742950" indent="-285750" eaLnBrk="1" hangingPunct="1">
              <a:buFont typeface="Arial" panose="020B0604020202020204" pitchFamily="34" charset="0"/>
              <a:buChar char="•"/>
              <a:defRPr sz="1800">
                <a:solidFill>
                  <a:schemeClr val="tx1"/>
                </a:solidFill>
                <a:latin typeface="+mj-lt"/>
                <a:ea typeface="+mn-ea"/>
                <a:cs typeface="+mn-cs"/>
              </a:defRPr>
            </a:lvl2pPr>
            <a:lvl3pPr marL="1200150" indent="-285750" eaLnBrk="1" hangingPunct="1">
              <a:buFont typeface="Arial" panose="020B0604020202020204" pitchFamily="34" charset="0"/>
              <a:buChar char="•"/>
              <a:defRPr sz="1800">
                <a:solidFill>
                  <a:schemeClr val="tx1"/>
                </a:solidFill>
                <a:latin typeface="+mj-lt"/>
                <a:ea typeface="+mn-ea"/>
                <a:cs typeface="+mn-cs"/>
              </a:defRPr>
            </a:lvl3pPr>
            <a:lvl4pPr marL="1657350" indent="-285750" eaLnBrk="1" hangingPunct="1">
              <a:buFont typeface="Arial" panose="020B0604020202020204" pitchFamily="34" charset="0"/>
              <a:buChar char="•"/>
              <a:defRPr sz="1800">
                <a:solidFill>
                  <a:schemeClr val="tx1"/>
                </a:solidFill>
                <a:latin typeface="+mj-lt"/>
                <a:ea typeface="+mn-ea"/>
                <a:cs typeface="+mn-cs"/>
              </a:defRPr>
            </a:lvl4pPr>
            <a:lvl5pPr marL="2114550" indent="-285750" eaLnBrk="1" hangingPunct="1">
              <a:buFont typeface="Arial" panose="020B0604020202020204" pitchFamily="34" charset="0"/>
              <a:buChar char="•"/>
              <a:defRPr sz="1800">
                <a:solidFill>
                  <a:schemeClr val="tx1"/>
                </a:solidFill>
                <a:latin typeface="+mj-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defTabSz="914400"/>
            <a:r>
              <a:rPr lang="en-GB" sz="2400" cap="small"/>
              <a:t>Een hoop voorbeelden</a:t>
            </a:r>
            <a:endParaRPr lang="en-GB" kern="0"/>
          </a:p>
          <a:p>
            <a:pPr lvl="1" defTabSz="914400"/>
            <a:endParaRPr lang="en-GB" kern="0"/>
          </a:p>
          <a:p>
            <a:pPr lvl="1" defTabSz="914400"/>
            <a:endParaRPr lang="en-GB" kern="0"/>
          </a:p>
          <a:p>
            <a:pPr lvl="1" defTabSz="914400"/>
            <a:endParaRPr lang="en-GB" kern="0"/>
          </a:p>
          <a:p>
            <a:pPr defTabSz="914400"/>
            <a:endParaRPr lang="en-GB" kern="0"/>
          </a:p>
          <a:p>
            <a:pPr lvl="1" defTabSz="914400"/>
            <a:endParaRPr lang="en-US" kern="0"/>
          </a:p>
        </p:txBody>
      </p:sp>
    </p:spTree>
    <p:extLst>
      <p:ext uri="{BB962C8B-B14F-4D97-AF65-F5344CB8AC3E}">
        <p14:creationId xmlns:p14="http://schemas.microsoft.com/office/powerpoint/2010/main" val="257828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3</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Waterval</a:t>
            </a:r>
          </a:p>
          <a:p>
            <a:pPr lvl="1"/>
            <a:endParaRPr lang="en-GB"/>
          </a:p>
          <a:p>
            <a:pPr marL="0" indent="0">
              <a:buNone/>
            </a:pPr>
            <a:endParaRPr lang="en-GB"/>
          </a:p>
          <a:p>
            <a:pPr lvl="1"/>
            <a:endParaRPr lang="en-GB"/>
          </a:p>
          <a:p>
            <a:endParaRPr lang="en-GB"/>
          </a:p>
          <a:p>
            <a:pPr lvl="1"/>
            <a:endParaRPr lang="en-GB"/>
          </a:p>
          <a:p>
            <a:endParaRPr lang="en-US"/>
          </a:p>
        </p:txBody>
      </p:sp>
      <p:pic>
        <p:nvPicPr>
          <p:cNvPr id="12" name="Picture 11">
            <a:extLst>
              <a:ext uri="{FF2B5EF4-FFF2-40B4-BE49-F238E27FC236}">
                <a16:creationId xmlns:a16="http://schemas.microsoft.com/office/drawing/2014/main" id="{75E1385D-8652-4D77-B222-2677386C77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511" y="2081808"/>
            <a:ext cx="9147797" cy="2664296"/>
          </a:xfrm>
          <a:prstGeom prst="rect">
            <a:avLst/>
          </a:prstGeom>
        </p:spPr>
      </p:pic>
    </p:spTree>
    <p:extLst>
      <p:ext uri="{BB962C8B-B14F-4D97-AF65-F5344CB8AC3E}">
        <p14:creationId xmlns:p14="http://schemas.microsoft.com/office/powerpoint/2010/main" val="1700386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Incrementeel</a:t>
            </a:r>
          </a:p>
          <a:p>
            <a:pPr lvl="1"/>
            <a:endParaRPr lang="en-GB"/>
          </a:p>
          <a:p>
            <a:pPr marL="0" indent="0">
              <a:buNone/>
            </a:pPr>
            <a:endParaRPr lang="en-GB"/>
          </a:p>
          <a:p>
            <a:pPr lvl="1"/>
            <a:endParaRPr lang="en-GB"/>
          </a:p>
          <a:p>
            <a:endParaRPr lang="en-GB"/>
          </a:p>
          <a:p>
            <a:pPr lvl="1"/>
            <a:endParaRPr lang="en-GB"/>
          </a:p>
          <a:p>
            <a:endParaRPr lang="en-US"/>
          </a:p>
        </p:txBody>
      </p:sp>
      <p:pic>
        <p:nvPicPr>
          <p:cNvPr id="8" name="Picture 7">
            <a:extLst>
              <a:ext uri="{FF2B5EF4-FFF2-40B4-BE49-F238E27FC236}">
                <a16:creationId xmlns:a16="http://schemas.microsoft.com/office/drawing/2014/main" id="{A058C042-89AF-48DC-9F25-537C376AD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277" y="2081808"/>
            <a:ext cx="9833445" cy="2448272"/>
          </a:xfrm>
          <a:prstGeom prst="rect">
            <a:avLst/>
          </a:prstGeom>
        </p:spPr>
      </p:pic>
    </p:spTree>
    <p:extLst>
      <p:ext uri="{BB962C8B-B14F-4D97-AF65-F5344CB8AC3E}">
        <p14:creationId xmlns:p14="http://schemas.microsoft.com/office/powerpoint/2010/main" val="3226980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5</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Incrementeel</a:t>
            </a:r>
          </a:p>
          <a:p>
            <a:pPr lvl="1"/>
            <a:endParaRPr lang="en-GB"/>
          </a:p>
          <a:p>
            <a:pPr marL="0" indent="0">
              <a:buNone/>
            </a:pPr>
            <a:endParaRPr lang="en-GB"/>
          </a:p>
          <a:p>
            <a:pPr lvl="1"/>
            <a:endParaRPr lang="en-GB"/>
          </a:p>
          <a:p>
            <a:endParaRPr lang="en-GB"/>
          </a:p>
          <a:p>
            <a:pPr lvl="1"/>
            <a:endParaRPr lang="en-GB"/>
          </a:p>
          <a:p>
            <a:endParaRPr lang="en-US"/>
          </a:p>
        </p:txBody>
      </p:sp>
      <p:pic>
        <p:nvPicPr>
          <p:cNvPr id="6" name="Picture 5">
            <a:extLst>
              <a:ext uri="{FF2B5EF4-FFF2-40B4-BE49-F238E27FC236}">
                <a16:creationId xmlns:a16="http://schemas.microsoft.com/office/drawing/2014/main" id="{6EC29C92-2346-4713-BF85-6CAD3A4D0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190" y="2329047"/>
            <a:ext cx="8447619" cy="2961905"/>
          </a:xfrm>
          <a:prstGeom prst="rect">
            <a:avLst/>
          </a:prstGeom>
        </p:spPr>
      </p:pic>
    </p:spTree>
    <p:extLst>
      <p:ext uri="{BB962C8B-B14F-4D97-AF65-F5344CB8AC3E}">
        <p14:creationId xmlns:p14="http://schemas.microsoft.com/office/powerpoint/2010/main" val="3446196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6</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Iteratief</a:t>
            </a:r>
          </a:p>
          <a:p>
            <a:pPr lvl="1"/>
            <a:endParaRPr lang="en-GB"/>
          </a:p>
          <a:p>
            <a:pPr marL="0" indent="0">
              <a:buNone/>
            </a:pPr>
            <a:endParaRPr lang="en-GB"/>
          </a:p>
          <a:p>
            <a:pPr lvl="1"/>
            <a:endParaRPr lang="en-GB"/>
          </a:p>
          <a:p>
            <a:endParaRPr lang="en-GB"/>
          </a:p>
          <a:p>
            <a:pPr lvl="1"/>
            <a:endParaRPr lang="en-GB"/>
          </a:p>
          <a:p>
            <a:endParaRPr lang="en-US"/>
          </a:p>
        </p:txBody>
      </p:sp>
      <p:pic>
        <p:nvPicPr>
          <p:cNvPr id="7" name="Picture 6">
            <a:extLst>
              <a:ext uri="{FF2B5EF4-FFF2-40B4-BE49-F238E27FC236}">
                <a16:creationId xmlns:a16="http://schemas.microsoft.com/office/drawing/2014/main" id="{F36BFD70-F51E-4412-9B2D-00E0B7DFBB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30400"/>
            <a:ext cx="10160000" cy="3759200"/>
          </a:xfrm>
          <a:prstGeom prst="rect">
            <a:avLst/>
          </a:prstGeom>
        </p:spPr>
      </p:pic>
    </p:spTree>
    <p:extLst>
      <p:ext uri="{BB962C8B-B14F-4D97-AF65-F5344CB8AC3E}">
        <p14:creationId xmlns:p14="http://schemas.microsoft.com/office/powerpoint/2010/main" val="1620275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7</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Incrementeel Iteratief</a:t>
            </a:r>
          </a:p>
          <a:p>
            <a:pPr lvl="1"/>
            <a:endParaRPr lang="en-GB"/>
          </a:p>
          <a:p>
            <a:pPr marL="0" indent="0">
              <a:buNone/>
            </a:pPr>
            <a:endParaRPr lang="en-GB"/>
          </a:p>
          <a:p>
            <a:pPr lvl="1"/>
            <a:endParaRPr lang="en-GB"/>
          </a:p>
          <a:p>
            <a:endParaRPr lang="en-GB"/>
          </a:p>
          <a:p>
            <a:pPr lvl="1"/>
            <a:endParaRPr lang="en-GB"/>
          </a:p>
          <a:p>
            <a:endParaRPr lang="en-US"/>
          </a:p>
        </p:txBody>
      </p:sp>
      <p:pic>
        <p:nvPicPr>
          <p:cNvPr id="6" name="Picture 5">
            <a:extLst>
              <a:ext uri="{FF2B5EF4-FFF2-40B4-BE49-F238E27FC236}">
                <a16:creationId xmlns:a16="http://schemas.microsoft.com/office/drawing/2014/main" id="{3A2C1A48-53CA-462E-A444-D1F48D8AF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544" y="2081808"/>
            <a:ext cx="8631816" cy="4248472"/>
          </a:xfrm>
          <a:prstGeom prst="rect">
            <a:avLst/>
          </a:prstGeom>
        </p:spPr>
      </p:pic>
    </p:spTree>
    <p:extLst>
      <p:ext uri="{BB962C8B-B14F-4D97-AF65-F5344CB8AC3E}">
        <p14:creationId xmlns:p14="http://schemas.microsoft.com/office/powerpoint/2010/main" val="3979879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8</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Nog beter?</a:t>
            </a:r>
          </a:p>
          <a:p>
            <a:pPr lvl="1"/>
            <a:endParaRPr lang="en-GB"/>
          </a:p>
          <a:p>
            <a:pPr marL="0" indent="0">
              <a:buNone/>
            </a:pPr>
            <a:endParaRPr lang="en-GB"/>
          </a:p>
          <a:p>
            <a:pPr lvl="1"/>
            <a:endParaRPr lang="en-GB"/>
          </a:p>
          <a:p>
            <a:endParaRPr lang="en-GB"/>
          </a:p>
          <a:p>
            <a:pPr lvl="1"/>
            <a:endParaRPr lang="en-GB"/>
          </a:p>
          <a:p>
            <a:endParaRPr lang="en-US"/>
          </a:p>
        </p:txBody>
      </p:sp>
      <p:pic>
        <p:nvPicPr>
          <p:cNvPr id="8" name="Picture 7">
            <a:extLst>
              <a:ext uri="{FF2B5EF4-FFF2-40B4-BE49-F238E27FC236}">
                <a16:creationId xmlns:a16="http://schemas.microsoft.com/office/drawing/2014/main" id="{660E7994-A479-4329-A817-A50A07401E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 y="2225824"/>
            <a:ext cx="9433048" cy="2664296"/>
          </a:xfrm>
          <a:prstGeom prst="rect">
            <a:avLst/>
          </a:prstGeom>
        </p:spPr>
      </p:pic>
    </p:spTree>
    <p:extLst>
      <p:ext uri="{BB962C8B-B14F-4D97-AF65-F5344CB8AC3E}">
        <p14:creationId xmlns:p14="http://schemas.microsoft.com/office/powerpoint/2010/main" val="4163455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9</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In de praktijk</a:t>
            </a:r>
          </a:p>
          <a:p>
            <a:pPr lvl="1"/>
            <a:endParaRPr lang="en-GB"/>
          </a:p>
          <a:p>
            <a:pPr marL="0" indent="0">
              <a:buNone/>
            </a:pPr>
            <a:endParaRPr lang="en-GB"/>
          </a:p>
          <a:p>
            <a:pPr lvl="1"/>
            <a:endParaRPr lang="en-GB"/>
          </a:p>
          <a:p>
            <a:endParaRPr lang="en-GB"/>
          </a:p>
          <a:p>
            <a:pPr lvl="1"/>
            <a:endParaRPr lang="en-GB"/>
          </a:p>
          <a:p>
            <a:endParaRPr lang="en-US"/>
          </a:p>
        </p:txBody>
      </p:sp>
      <p:pic>
        <p:nvPicPr>
          <p:cNvPr id="9" name="Picture 8">
            <a:extLst>
              <a:ext uri="{FF2B5EF4-FFF2-40B4-BE49-F238E27FC236}">
                <a16:creationId xmlns:a16="http://schemas.microsoft.com/office/drawing/2014/main" id="{3AFF2A71-72DF-4F7F-990E-1AD6D8D410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950" y="1988320"/>
            <a:ext cx="9296400" cy="4796990"/>
          </a:xfrm>
          <a:prstGeom prst="rect">
            <a:avLst/>
          </a:prstGeom>
        </p:spPr>
      </p:pic>
    </p:spTree>
    <p:extLst>
      <p:ext uri="{BB962C8B-B14F-4D97-AF65-F5344CB8AC3E}">
        <p14:creationId xmlns:p14="http://schemas.microsoft.com/office/powerpoint/2010/main" val="2851018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10</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Ontwikkeling in paralel</a:t>
            </a:r>
          </a:p>
          <a:p>
            <a:pPr lvl="1"/>
            <a:endParaRPr lang="en-GB"/>
          </a:p>
          <a:p>
            <a:pPr marL="0" indent="0">
              <a:buNone/>
            </a:pPr>
            <a:endParaRPr lang="en-GB"/>
          </a:p>
          <a:p>
            <a:pPr lvl="1"/>
            <a:endParaRPr lang="en-GB"/>
          </a:p>
          <a:p>
            <a:endParaRPr lang="en-GB"/>
          </a:p>
          <a:p>
            <a:pPr lvl="1"/>
            <a:endParaRPr lang="en-GB"/>
          </a:p>
          <a:p>
            <a:endParaRPr lang="en-US"/>
          </a:p>
        </p:txBody>
      </p:sp>
      <p:pic>
        <p:nvPicPr>
          <p:cNvPr id="9" name="Picture 8">
            <a:extLst>
              <a:ext uri="{FF2B5EF4-FFF2-40B4-BE49-F238E27FC236}">
                <a16:creationId xmlns:a16="http://schemas.microsoft.com/office/drawing/2014/main" id="{A9D35CE1-8944-411F-84ED-3A62ADDD8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3576" y="1924050"/>
            <a:ext cx="7344816" cy="4752528"/>
          </a:xfrm>
          <a:prstGeom prst="rect">
            <a:avLst/>
          </a:prstGeom>
        </p:spPr>
      </p:pic>
    </p:spTree>
    <p:extLst>
      <p:ext uri="{BB962C8B-B14F-4D97-AF65-F5344CB8AC3E}">
        <p14:creationId xmlns:p14="http://schemas.microsoft.com/office/powerpoint/2010/main" val="1832514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11</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Tegenwoordig</a:t>
            </a:r>
          </a:p>
          <a:p>
            <a:pPr lvl="1"/>
            <a:endParaRPr lang="en-GB"/>
          </a:p>
          <a:p>
            <a:pPr marL="0" indent="0">
              <a:buNone/>
            </a:pPr>
            <a:endParaRPr lang="en-GB"/>
          </a:p>
          <a:p>
            <a:pPr lvl="1"/>
            <a:endParaRPr lang="en-GB"/>
          </a:p>
          <a:p>
            <a:endParaRPr lang="en-GB"/>
          </a:p>
          <a:p>
            <a:pPr lvl="1"/>
            <a:endParaRPr lang="en-GB"/>
          </a:p>
          <a:p>
            <a:endParaRPr lang="en-US"/>
          </a:p>
        </p:txBody>
      </p:sp>
      <p:pic>
        <p:nvPicPr>
          <p:cNvPr id="6" name="Picture 5">
            <a:extLst>
              <a:ext uri="{FF2B5EF4-FFF2-40B4-BE49-F238E27FC236}">
                <a16:creationId xmlns:a16="http://schemas.microsoft.com/office/drawing/2014/main" id="{155BBA88-461E-4E43-8B8B-5C375698C4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72" y="1957631"/>
            <a:ext cx="8752408" cy="4660657"/>
          </a:xfrm>
          <a:prstGeom prst="rect">
            <a:avLst/>
          </a:prstGeom>
        </p:spPr>
      </p:pic>
    </p:spTree>
    <p:extLst>
      <p:ext uri="{BB962C8B-B14F-4D97-AF65-F5344CB8AC3E}">
        <p14:creationId xmlns:p14="http://schemas.microsoft.com/office/powerpoint/2010/main" val="665071078"/>
      </p:ext>
    </p:extLst>
  </p:cSld>
  <p:clrMapOvr>
    <a:masterClrMapping/>
  </p:clrMapOvr>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776112-665F-4321-8DF2-154B8CFE473B}">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customXml/itemProps2.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13963EC-CB83-4A74-AD17-7E027499D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915</TotalTime>
  <Words>168</Words>
  <Application>Microsoft Office PowerPoint</Application>
  <PresentationFormat>Custom</PresentationFormat>
  <Paragraphs>114</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SyntraWestBase</vt:lpstr>
      <vt:lpstr>Terminologie en hun betekenis</vt:lpstr>
      <vt:lpstr>Terminologie en hun betekenis</vt:lpstr>
      <vt:lpstr>Terminologie en hun betekenis</vt:lpstr>
      <vt:lpstr>Terminologie en hun betekenis</vt:lpstr>
      <vt:lpstr>Terminologie en hun betekenis</vt:lpstr>
      <vt:lpstr>Terminologie en hun betekenis</vt:lpstr>
      <vt:lpstr>Terminologie en hun betekenis</vt:lpstr>
      <vt:lpstr>Terminologie en hun betekenis</vt:lpstr>
      <vt:lpstr>Terminologie en hun betekenis</vt:lpstr>
      <vt:lpstr>Terminologie en hun betekenis</vt:lpstr>
      <vt:lpstr>Terminologie en hun betekenis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143</cp:revision>
  <dcterms:created xsi:type="dcterms:W3CDTF">2020-09-23T07:49:56Z</dcterms:created>
  <dcterms:modified xsi:type="dcterms:W3CDTF">2020-10-08T05:53:38Z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