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61" r:id="rId3"/>
    <p:sldId id="260" r:id="rId4"/>
    <p:sldId id="259" r:id="rId5"/>
    <p:sldId id="258" r:id="rId6"/>
    <p:sldId id="257" r:id="rId7"/>
    <p:sldId id="256" r:id="rId8"/>
  </p:sldIdLst>
  <p:sldSz cx="12192000" cy="6858000"/>
  <p:notesSz cx="6794500" cy="99250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5" autoAdjust="0"/>
    <p:restoredTop sz="51546" autoAdjust="0"/>
  </p:normalViewPr>
  <p:slideViewPr>
    <p:cSldViewPr snapToGrid="0">
      <p:cViewPr varScale="1">
        <p:scale>
          <a:sx n="40" d="100"/>
          <a:sy n="40" d="100"/>
        </p:scale>
        <p:origin x="16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57B60-1FE2-4789-8D20-53B63877B1AB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431"/>
            <a:ext cx="543560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4283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27076"/>
            <a:ext cx="2944283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29B44-2A16-4EC1-9C39-7BB3F71FE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37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GB"/>
              <a:t>We herhalen de oefening.</a:t>
            </a:r>
          </a:p>
          <a:p>
            <a:endParaRPr lang="en-GB"/>
          </a:p>
          <a:p>
            <a:pPr marL="0" indent="0">
              <a:buFontTx/>
              <a:buNone/>
            </a:pPr>
            <a:r>
              <a:rPr lang="en-US"/>
              <a:t>Dan vragen we rond.</a:t>
            </a:r>
          </a:p>
          <a:p>
            <a:pPr marL="171450" indent="-171450">
              <a:buFontTx/>
              <a:buChar char="-"/>
            </a:pPr>
            <a:r>
              <a:rPr lang="en-US"/>
              <a:t>Wat denk je van je score?</a:t>
            </a:r>
          </a:p>
          <a:p>
            <a:pPr marL="171450" indent="-171450">
              <a:buFontTx/>
              <a:buChar char="-"/>
            </a:pPr>
            <a:r>
              <a:rPr lang="en-US"/>
              <a:t>Wat staat er in de weg, om een hogere score te halen?</a:t>
            </a:r>
          </a:p>
          <a:p>
            <a:pPr marL="171450" indent="-171450">
              <a:buFontTx/>
              <a:buChar char="-"/>
            </a:pPr>
            <a:r>
              <a:rPr lang="en-US"/>
              <a:t>Kun je dit nog verder verbeteren?</a:t>
            </a:r>
          </a:p>
          <a:p>
            <a:endParaRPr lang="en-US"/>
          </a:p>
          <a:p>
            <a:r>
              <a:rPr lang="en-GB"/>
              <a:t>De vijfde S stap: Sustain / Ondersteunen</a:t>
            </a:r>
          </a:p>
          <a:p>
            <a:pPr marL="171450" indent="-171450">
              <a:buFontTx/>
              <a:buChar char="-"/>
            </a:pPr>
            <a:r>
              <a:rPr lang="en-GB"/>
              <a:t>Niets in de weg leggen, zodanig dat je op dezelfde manier kunt blijven werken.</a:t>
            </a:r>
          </a:p>
          <a:p>
            <a:pPr marL="171450" indent="-171450">
              <a:buFontTx/>
              <a:buChar char="-"/>
            </a:pPr>
            <a:endParaRPr lang="en-GB"/>
          </a:p>
          <a:p>
            <a:endParaRPr lang="en-GB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29B44-2A16-4EC1-9C39-7BB3F71FE7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66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GB"/>
              <a:t>We herhalen de oefening.</a:t>
            </a:r>
          </a:p>
          <a:p>
            <a:endParaRPr lang="en-GB"/>
          </a:p>
          <a:p>
            <a:pPr marL="0" indent="0">
              <a:buFontTx/>
              <a:buNone/>
            </a:pPr>
            <a:r>
              <a:rPr lang="en-US"/>
              <a:t>Dan vragen we rond.</a:t>
            </a:r>
          </a:p>
          <a:p>
            <a:pPr marL="171450" indent="-171450">
              <a:buFontTx/>
              <a:buChar char="-"/>
            </a:pPr>
            <a:r>
              <a:rPr lang="en-US"/>
              <a:t>Wat denk je van je score?</a:t>
            </a:r>
          </a:p>
          <a:p>
            <a:pPr marL="171450" indent="-171450">
              <a:buFontTx/>
              <a:buChar char="-"/>
            </a:pPr>
            <a:r>
              <a:rPr lang="en-US"/>
              <a:t>Wat staat er in de weg, om een hogere score te halen?</a:t>
            </a:r>
          </a:p>
          <a:p>
            <a:endParaRPr lang="en-US"/>
          </a:p>
          <a:p>
            <a:r>
              <a:rPr lang="en-GB"/>
              <a:t>De derde S stap: Sweep / Zorgen dat het net is</a:t>
            </a:r>
          </a:p>
          <a:p>
            <a:pPr marL="171450" indent="-171450">
              <a:buFontTx/>
              <a:buChar char="-"/>
            </a:pPr>
            <a:r>
              <a:rPr lang="en-GB"/>
              <a:t>Poets de vloer / je bureau</a:t>
            </a:r>
          </a:p>
          <a:p>
            <a:pPr marL="171450" indent="-171450">
              <a:buFontTx/>
              <a:buChar char="-"/>
            </a:pPr>
            <a:r>
              <a:rPr lang="en-GB"/>
              <a:t>Je zorgt ervoor dat je materiaal net is / PC is virus vrij / alle balast is eraf</a:t>
            </a:r>
          </a:p>
          <a:p>
            <a:pPr marL="171450" indent="-171450">
              <a:buFontTx/>
              <a:buChar char="-"/>
            </a:pPr>
            <a:r>
              <a:rPr lang="en-GB"/>
              <a:t>Zorg dat alles kraaknet is</a:t>
            </a:r>
          </a:p>
          <a:p>
            <a:endParaRPr lang="en-GB"/>
          </a:p>
          <a:p>
            <a:r>
              <a:rPr lang="en-US"/>
              <a:t>In deze oefening zou ik dit kunnen doen door bijvoorbeeld het “grijs” weg te halen.</a:t>
            </a:r>
          </a:p>
          <a:p>
            <a:pPr marL="171450" indent="-171450">
              <a:buFontTx/>
              <a:buChar char="-"/>
            </a:pPr>
            <a:r>
              <a:rPr lang="en-GB"/>
              <a:t>Of door mijn printer te herstellen</a:t>
            </a:r>
          </a:p>
          <a:p>
            <a:pPr marL="0" indent="0">
              <a:buFontTx/>
              <a:buNone/>
            </a:pPr>
            <a:endParaRPr lang="en-GB"/>
          </a:p>
          <a:p>
            <a:pPr marL="0" indent="0">
              <a:buFontTx/>
              <a:buNone/>
            </a:pPr>
            <a:r>
              <a:rPr lang="en-GB"/>
              <a:t>De vierde S stap: Standardize / standaardizeren.</a:t>
            </a:r>
          </a:p>
          <a:p>
            <a:pPr marL="171450" indent="-171450">
              <a:buFontTx/>
              <a:buChar char="-"/>
            </a:pPr>
            <a:r>
              <a:rPr lang="en-GB"/>
              <a:t>Nadat je je werksituatie hebt bekeken, zorg je dat je een betere standaard hebt.</a:t>
            </a:r>
          </a:p>
          <a:p>
            <a:pPr marL="171450" indent="-171450">
              <a:buFontTx/>
              <a:buChar char="-"/>
            </a:pPr>
            <a:r>
              <a:rPr lang="en-GB"/>
              <a:t>Op het volgende blad heb ik dit voor jou gedaan.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29B44-2A16-4EC1-9C39-7BB3F71FE7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10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GB"/>
              <a:t>We herhalen de oefening.</a:t>
            </a:r>
          </a:p>
          <a:p>
            <a:endParaRPr lang="en-GB"/>
          </a:p>
          <a:p>
            <a:pPr marL="0" indent="0">
              <a:buFontTx/>
              <a:buNone/>
            </a:pPr>
            <a:r>
              <a:rPr lang="en-US"/>
              <a:t>Dan vragen we rond.</a:t>
            </a:r>
          </a:p>
          <a:p>
            <a:pPr marL="171450" indent="-171450">
              <a:buFontTx/>
              <a:buChar char="-"/>
            </a:pPr>
            <a:r>
              <a:rPr lang="en-US"/>
              <a:t>Wat denk je van je score?</a:t>
            </a:r>
          </a:p>
          <a:p>
            <a:pPr marL="171450" indent="-171450">
              <a:buFontTx/>
              <a:buChar char="-"/>
            </a:pPr>
            <a:r>
              <a:rPr lang="en-US"/>
              <a:t>Wat staat er in de weg, om een hogere score te halen?</a:t>
            </a:r>
          </a:p>
          <a:p>
            <a:endParaRPr lang="en-US"/>
          </a:p>
          <a:p>
            <a:r>
              <a:rPr lang="en-GB"/>
              <a:t>De tweede S stap: Straighten / Ordenen</a:t>
            </a:r>
          </a:p>
          <a:p>
            <a:pPr marL="171450" indent="-171450">
              <a:buFontTx/>
              <a:buChar char="-"/>
            </a:pPr>
            <a:r>
              <a:rPr lang="en-GB"/>
              <a:t>We steken een soort structuur in de gegevens</a:t>
            </a:r>
          </a:p>
          <a:p>
            <a:endParaRPr lang="en-GB"/>
          </a:p>
          <a:p>
            <a:r>
              <a:rPr lang="en-GB"/>
              <a:t>Op het blad staan 49 nummers, en de opdracht wat tot 49 te doorstrepen.</a:t>
            </a:r>
          </a:p>
          <a:p>
            <a:pPr marL="171450" indent="-171450">
              <a:buFontTx/>
              <a:buChar char="-"/>
            </a:pPr>
            <a:r>
              <a:rPr lang="en-GB"/>
              <a:t>We tekenen een raster van 3 bij 3 op het blad.</a:t>
            </a:r>
          </a:p>
          <a:p>
            <a:pPr marL="171450" indent="-171450">
              <a:buFontTx/>
              <a:buChar char="-"/>
            </a:pPr>
            <a:r>
              <a:rPr lang="en-GB"/>
              <a:t>Nummer 1 staat in de linkerboven hoek</a:t>
            </a:r>
          </a:p>
          <a:p>
            <a:pPr marL="171450" indent="-171450">
              <a:buFontTx/>
              <a:buChar char="-"/>
            </a:pPr>
            <a:r>
              <a:rPr lang="en-GB"/>
              <a:t>En het volgende nummer staat in de volgende cel (volgens leesvolgorde)</a:t>
            </a:r>
          </a:p>
          <a:p>
            <a:pPr marL="171450" indent="-171450">
              <a:buFontTx/>
              <a:buChar char="-"/>
            </a:pPr>
            <a:endParaRPr lang="en-GB"/>
          </a:p>
          <a:p>
            <a:pPr marL="0" indent="0">
              <a:buFontTx/>
              <a:buNone/>
            </a:pPr>
            <a:endParaRPr lang="en-GB"/>
          </a:p>
          <a:p>
            <a:pPr marL="0" indent="0">
              <a:buFontTx/>
              <a:buNone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29B44-2A16-4EC1-9C39-7BB3F71FE7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12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Dit blad vertegenwoordigt de huidige werksituatie.</a:t>
            </a:r>
          </a:p>
          <a:p>
            <a:pPr marL="171450" indent="-171450">
              <a:buFontTx/>
              <a:buChar char="-"/>
            </a:pPr>
            <a:r>
              <a:rPr lang="en-GB"/>
              <a:t>Je opdracht is om met een balpen, in volgorde de nummers 1 tot 49 te doorstrepen.</a:t>
            </a:r>
          </a:p>
          <a:p>
            <a:pPr marL="171450" indent="-171450">
              <a:buFontTx/>
              <a:buChar char="-"/>
            </a:pPr>
            <a:r>
              <a:rPr lang="en-GB"/>
              <a:t>Je hebt 40 seconden om deze taak uit te voeren.</a:t>
            </a:r>
          </a:p>
          <a:p>
            <a:pPr marL="171450" indent="-171450">
              <a:buFontTx/>
              <a:buChar char="-"/>
            </a:pPr>
            <a:r>
              <a:rPr lang="en-GB"/>
              <a:t>Ik zeg je wanneer je mag starten, ik zeg wanneer je moet stoppen.</a:t>
            </a:r>
          </a:p>
          <a:p>
            <a:pPr marL="171450" indent="-171450">
              <a:buFontTx/>
              <a:buChar char="-"/>
            </a:pPr>
            <a:r>
              <a:rPr lang="en-GB"/>
              <a:t>Als we klaar zijn, zegt iedereen zijn hoogste nummer</a:t>
            </a:r>
          </a:p>
          <a:p>
            <a:pPr marL="171450" indent="-171450">
              <a:buFontTx/>
              <a:buChar char="-"/>
            </a:pPr>
            <a:r>
              <a:rPr lang="en-GB"/>
              <a:t>Het laagste number is de score van de klas.</a:t>
            </a:r>
          </a:p>
          <a:p>
            <a:pPr marL="171450" indent="-171450">
              <a:buFontTx/>
              <a:buChar char="-"/>
            </a:pPr>
            <a:endParaRPr lang="en-GB"/>
          </a:p>
          <a:p>
            <a:pPr marL="0" indent="0">
              <a:buFontTx/>
              <a:buNone/>
            </a:pPr>
            <a:r>
              <a:rPr lang="en-US"/>
              <a:t>Dan vragen we rond.</a:t>
            </a:r>
          </a:p>
          <a:p>
            <a:pPr marL="171450" indent="-171450">
              <a:buFontTx/>
              <a:buChar char="-"/>
            </a:pPr>
            <a:r>
              <a:rPr lang="en-US"/>
              <a:t>Wat denk je van je score?</a:t>
            </a:r>
          </a:p>
          <a:p>
            <a:pPr marL="171450" indent="-171450">
              <a:buFontTx/>
              <a:buChar char="-"/>
            </a:pPr>
            <a:r>
              <a:rPr lang="en-US"/>
              <a:t>Wat staat er in de weg, om een hogere score te halen?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r>
              <a:rPr lang="en-GB"/>
              <a:t>De eerste S stap: Sort / Wegfilteren</a:t>
            </a:r>
          </a:p>
          <a:p>
            <a:endParaRPr lang="en-GB"/>
          </a:p>
          <a:p>
            <a:r>
              <a:rPr lang="en-GB"/>
              <a:t>Op het blad staan 90 nummers, en de opdracht wat tot 49 te doorstrepen.</a:t>
            </a:r>
          </a:p>
          <a:p>
            <a:pPr marL="171450" indent="-171450">
              <a:buFontTx/>
              <a:buChar char="-"/>
            </a:pPr>
            <a:r>
              <a:rPr lang="en-GB"/>
              <a:t>We halen de nummers 50 tot 90 weg van het blad</a:t>
            </a:r>
          </a:p>
          <a:p>
            <a:pPr marL="171450" indent="-171450">
              <a:buFontTx/>
              <a:buChar char="-"/>
            </a:pPr>
            <a:r>
              <a:rPr lang="en-GB"/>
              <a:t>Dit simuleert dat we de niet essentiele dingen van uw dagelijks werk verwijderen uit je werkomgeving.</a:t>
            </a:r>
          </a:p>
          <a:p>
            <a:pPr marL="171450" indent="-171450">
              <a:buFontTx/>
              <a:buChar char="-"/>
            </a:pPr>
            <a:endParaRPr lang="en-GB"/>
          </a:p>
          <a:p>
            <a:pPr marL="0" indent="0">
              <a:buFontTx/>
              <a:buNone/>
            </a:pPr>
            <a:endParaRPr lang="en-US"/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29B44-2A16-4EC1-9C39-7BB3F71FE7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18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E143-2043-45DB-B692-33F9B651A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142789-6E62-46D9-A25B-63C1F9401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A0038-6BF6-437C-93F7-B5AEE3E2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62C7-CE13-4987-B52C-D9A403F0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73D90-D5DB-49E0-8D50-36442A03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43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C60E4-A171-4893-9367-860ACCD68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FBF86-2914-4A78-AA0A-092D88762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F4C34-560D-4E35-813A-0D9880C8F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C349D-3802-4755-B4AA-D050E3655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EE03E-6947-484E-A3A8-12EC9F7D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30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9898-DE60-454B-8D8C-8BF3AB89D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327FF-94D0-48A3-9FFC-21B074F8D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F0057-6ECB-4B1F-B4C3-317919CC8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21C96-C94F-45E8-A806-0B308D4B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71E35-B63E-4047-B042-A7A363EB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0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27244-5FCF-429D-B515-8208B6F4C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1C7A3-44F0-4FD2-B89B-6BBD2D1AD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1A0BA-4C60-4228-8C65-3C9074B13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DF090-9452-4488-9E41-7BA9FB67A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99489-453F-4A4E-903F-51DA2E73C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27D6A-5717-4679-A472-B0FD8DC4A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719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D0EA-780C-4BE4-8F84-B12B58EE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6E0CB-228F-4F0D-9595-2DFC3513C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65D6A-1094-438E-9B8E-C27153D3F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A9F3C7-4123-47CA-91C3-D2DC30094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91621-44B9-4846-98A9-734937BF4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99C856-D01B-41F1-AD80-96B2B6949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A31F0C-B205-4499-A411-91B339AD8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35E785-A264-489B-AE3A-5D3699787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12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FE2BA-412E-46EC-B588-D3684892D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5777D6-7E45-432A-B8F1-8C876FF4B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8FCECC-469C-4959-8791-B22DFB961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A27DF-0650-4DB3-BAD3-FA35D1D52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94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F7F6D8-C11B-4B62-AF3E-49E8082E5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48FA4-092E-4BDC-86D5-43A2502E9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B225E-2F6C-463D-8732-1B0A3D39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97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6EFE0-BD84-4D6F-A164-3EACE8AD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47AC5-A76C-4141-8300-06FA25642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DE238-40D3-48D8-8B3B-A2BDED213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21A15-9E11-4840-8456-23A812A04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2845D-BD19-4FA5-8A55-E89B52EE2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1E20F-4488-42EF-9494-4B2AFEF1A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3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8B9F-0A33-4115-AED7-7B3035138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CEFBEA-F5CE-499D-9FEA-27D76CDF0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609C0-6D69-4F69-AB7E-2A1D7247C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A99C4-A891-4D8F-B606-DA9FD572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AA4E2-80A4-44A1-95E7-9D2562CD7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21579-4709-45CB-AC6D-2745BE049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3521F-058A-4343-AFA9-51FA80090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458CAD-884A-4F05-808B-30DD84654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D7C55-1270-426E-A18C-48205A0FC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3CAB-F234-4C36-A66B-D173221CA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5A6C1-DADC-4C2F-BDD1-D7285BCFB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19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E21915-8285-4E98-8EE5-62770AB54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3B52C-C19D-4C42-8333-48870B960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D4DBF-B742-4AB8-BAE1-33986FC18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15394-EF55-4B43-BA03-885AF3041065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A812F-072B-4894-B019-018A26B8E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7335F-D4FD-4CBC-920E-C91008CDB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08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DBBF9-C592-4773-9A75-AD98EE448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3FE35-B498-492C-858B-A03236263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37B2A-B626-4D1B-AADC-2F0D6A5670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15394-EF55-4B43-BA03-885AF3041065}" type="datetimeFigureOut">
              <a:rPr lang="en-US" smtClean="0"/>
              <a:t>10/1/2020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66D88-854C-4711-A8FA-675A5B0C6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12A5D-74A6-4645-89EC-F309B602D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0952B-7D4A-45F7-B4C8-1E239AD0C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86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5S numbers game">
            <a:extLst>
              <a:ext uri="{FF2B5EF4-FFF2-40B4-BE49-F238E27FC236}">
                <a16:creationId xmlns:a16="http://schemas.microsoft.com/office/drawing/2014/main" id="{C6C0768A-1702-40C8-A080-582284FF6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72" y="0"/>
            <a:ext cx="9134454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4271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The Fifth S is Sustain&#10;• Imagine you have applied the 5S process to&#10;your current work area and seen&#10;improvements as you di...">
            <a:extLst>
              <a:ext uri="{FF2B5EF4-FFF2-40B4-BE49-F238E27FC236}">
                <a16:creationId xmlns:a16="http://schemas.microsoft.com/office/drawing/2014/main" id="{B2DEABBC-0840-4FC2-BBAB-4520B18FF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168" y="44594"/>
            <a:ext cx="9075058" cy="6813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57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AC51A-7621-41C3-BE98-4386E4E5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5 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8FE00-6863-48AB-A5AF-0E6F8690A6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/>
              <a:t>Sort</a:t>
            </a:r>
          </a:p>
          <a:p>
            <a:r>
              <a:rPr lang="en-GB"/>
              <a:t>Straighten</a:t>
            </a:r>
          </a:p>
          <a:p>
            <a:r>
              <a:rPr lang="en-GB"/>
              <a:t>Sweep</a:t>
            </a:r>
          </a:p>
          <a:p>
            <a:r>
              <a:rPr lang="en-GB"/>
              <a:t>Standardize</a:t>
            </a:r>
          </a:p>
          <a:p>
            <a:r>
              <a:rPr lang="en-GB"/>
              <a:t>Sustain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E339B-F87D-40CA-81AE-D4131338D6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/>
              <a:t>Filter</a:t>
            </a:r>
          </a:p>
          <a:p>
            <a:r>
              <a:rPr lang="en-US"/>
              <a:t>Ordenen</a:t>
            </a:r>
          </a:p>
          <a:p>
            <a:r>
              <a:rPr lang="en-US"/>
              <a:t>Proper maken</a:t>
            </a:r>
          </a:p>
          <a:p>
            <a:r>
              <a:rPr lang="en-US"/>
              <a:t>Standaardiseren</a:t>
            </a:r>
          </a:p>
          <a:p>
            <a:r>
              <a:rPr lang="en-US"/>
              <a:t>Niets in de weg leggen</a:t>
            </a:r>
          </a:p>
        </p:txBody>
      </p:sp>
    </p:spTree>
    <p:extLst>
      <p:ext uri="{BB962C8B-B14F-4D97-AF65-F5344CB8AC3E}">
        <p14:creationId xmlns:p14="http://schemas.microsoft.com/office/powerpoint/2010/main" val="1760440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ound 5 Results&#10;• How do you feel about your score?&#10;• What appeared to get in the way of achieving&#10;a higher score?&#10;&#10;18&#10;&#10;ww...">
            <a:extLst>
              <a:ext uri="{FF2B5EF4-FFF2-40B4-BE49-F238E27FC236}">
                <a16:creationId xmlns:a16="http://schemas.microsoft.com/office/drawing/2014/main" id="{C6EFC83A-F454-4333-A4EB-434669792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72" y="0"/>
            <a:ext cx="9134454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157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5S Step #4&#10;&#10;Standardize&#10;• After in-depth Work Flow Analysis, we have&#10;installed the more detailed racking system on&#10;the nex...">
            <a:extLst>
              <a:ext uri="{FF2B5EF4-FFF2-40B4-BE49-F238E27FC236}">
                <a16:creationId xmlns:a16="http://schemas.microsoft.com/office/drawing/2014/main" id="{94E409A7-445D-4ECD-9DB4-EF995B83A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890" y="53627"/>
            <a:ext cx="8998527" cy="6755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14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tep #2 Straighten&#10;• Having achieved some improvement, we will now move to&#10;the next 5S step Straighten&#10;• We have installed...">
            <a:extLst>
              <a:ext uri="{FF2B5EF4-FFF2-40B4-BE49-F238E27FC236}">
                <a16:creationId xmlns:a16="http://schemas.microsoft.com/office/drawing/2014/main" id="{B9291CD4-7C1A-4189-A29D-C7BA31534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854" y="6821"/>
            <a:ext cx="9125371" cy="6851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681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94C6524-2057-4CBB-97BA-A8AE32783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301"/>
            <a:ext cx="9113520" cy="6842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095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459</Words>
  <Application>Microsoft Office PowerPoint</Application>
  <PresentationFormat>Widescreen</PresentationFormat>
  <Paragraphs>74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5 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 Van De Walle</dc:creator>
  <cp:lastModifiedBy>Vincent Van De Walle</cp:lastModifiedBy>
  <cp:revision>10</cp:revision>
  <cp:lastPrinted>2020-09-30T15:26:54Z</cp:lastPrinted>
  <dcterms:created xsi:type="dcterms:W3CDTF">2020-09-30T14:57:00Z</dcterms:created>
  <dcterms:modified xsi:type="dcterms:W3CDTF">2020-10-01T11:10:17Z</dcterms:modified>
</cp:coreProperties>
</file>